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2" r:id="rId16"/>
    <p:sldId id="273" r:id="rId17"/>
    <p:sldId id="271" r:id="rId18"/>
    <p:sldId id="267"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details: notice_board_review 2.pptx, slides 1 and 20. Academic year 2026–2027 confirmed by the presenter.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Baseline adapted from the supplied review PPT. These are qualitative workflow limitations, not results of a measured institutional survey.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https://journals.mriindia.com/index.php/ijeecs/article/view/351 ; https://aclanthology.org/W04-3252/ ; https://aclanthology.org/W04-3252.pdf ; https://arxiv.org/abs/2207.04672 . The Ninawe paper is retained from the supplied review PPT. The other six generic citations in the earlier deck could not be verified from the supplied bibliographic details and are not used as evidence. TextRank is related research, not the implemented summary algorithm. Paper benchmark results are not CollegeNotice evaluation scores.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 Hardware values are suggested demonstration resources, not benchmarked minimum requirements.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 Simplified ER model, redrawn from review slide 17. Corrects department/category cardinality and bookmark-to-notice relationship. Campus-wide notices may have no department. Unique (user, notice) constraints prevent duplicates.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 Adapted from review slide 11. Replaces React/MySQL and unsupported external services with implemented components.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 Current command: manage.py test board --verbosity 1. Result: 61 tests passed in 47.465 seconds on the local SQLite/eager-task profile. The test duration is not application response latency. Browser recording had no uncaught page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from the actual 13 October 2026 local demo recording. Original application colours retained as requested.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from the actual 13 October 2026 local demo recording. Original application colours retained as requested.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from the actual 13 October 2026 local demo recording. Original application colours retained as requested.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Screenshot from the actual 13 October 2026 local demo recording. Original application colours retained as requested.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 Qualitative workflow comparison. No measured claims about accuracy, speed, cost savings or user satisfaction.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 Django suite: 61 tests passed in 47.465 seconds. Tests cover authentication, permissions, notice lifecycle, validation, bookmarks, notifications, local assistance and service behavior. Browser system walkthrough completed. Formal user acceptance and load testing were not performed.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Actual one-minute CollegeNotice demo recorded at 1920 × 1080, 25 fps. MP4 is embedded in this slide. A separate MP4 remains available alongside the deck as a playback fallback.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https://journals.mriindia.com/index.php/ijeecs/article/view/351 ; https://aclanthology.org/W04-3252/ ; https://aclanthology.org/W04-3252.pdf ; https://arxiv.org/abs/2207.04672 . The Ninawe paper is retained from the supplied review PPT. The other six generic citations in the earlier deck could not be verified from the supplied bibliographic details and are not used as evidence. TextRank is related research, not the implemented summary algorithm. Paper benchmark results are not CollegeNotice evaluation scores.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Verified official documentation: https://docs.djangoproject.com/en/5.2/ ; https://www.django-rest-framework.org/ ; https://opennmt.net/CTranslate2/ ; https://huggingface.co/facebook/nllb-200-distilled-600M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evidence: CollegeNotice/README.md, board/models.py, board/views.py, board/ai.py, board/local_translation.py and static/*.js. Local demonstration and Django tests verified on 13 October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36ABBFA-0364-46C1-838B-9B90F5F3080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9FBFA28-5776-49AF-8DFC-57E7BB5B68E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39E7C72-63F4-42C2-9784-E3FEA5E4201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8E9A02C-AFD9-4FD4-B017-8AAE912F398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8CD30639-B19A-4ED1-BACB-A8B758290F1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F6B31D2-8CF0-4055-9A42-F616D64A99B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FF01BBA-EFA6-44B0-BB75-CDEFE1512FD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2F8A218-F36B-433A-BDC2-2AC18763828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DCC854D-8B68-4457-8EB8-E4D6E2F9E4A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02D2037-C70A-4AD0-A7E4-04F035314F8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COLLEGENOTICE">
            <a:extLst>
              <a:ext uri="{FF2B5EF4-FFF2-40B4-BE49-F238E27FC236}">
                <a16:creationId xmlns:a16="http://schemas.microsoft.com/office/drawing/2014/main" id="{7702DB70-FEBC-460E-B3F4-D0E44627A11F}"/>
              </a:ext>
            </a:extLst>
          </p:cNvPr>
          <p:cNvSpPr>
            <a:spLocks noGrp="1"/>
          </p:cNvSpPr>
          <p:nvPr/>
        </p:nvSpPr>
        <p:spPr>
          <a:xfrm>
            <a:off x="762000" y="704850"/>
            <a:ext cx="10668000" cy="762000"/>
          </a:xfrm>
          <a:prstGeom prst="rect">
            <a:avLst/>
          </a:prstGeom>
          <a:noFill/>
          <a:ln w="0">
            <a:noFill/>
          </a:ln>
        </p:spPr>
        <p:txBody>
          <a:bodyPr lIns="0" tIns="0" rIns="0" bIns="0" anchor="t">
            <a:noAutofit/>
          </a:bodyPr>
          <a:lstStyle>
            <a:defPPr algn="ctr">
              <a:defRPr sz="4050" b="1">
                <a:solidFill>
                  <a:srgbClr val="000000"/>
                </a:solidFill>
                <a:latin typeface="Arial"/>
                <a:ea typeface="Arial"/>
                <a:cs typeface="Arial"/>
              </a:defRPr>
            </a:defPPr>
          </a:lstStyle>
          <a:p>
            <a:pPr algn="ctr">
              <a:defRPr sz="4050" b="1">
                <a:solidFill>
                  <a:srgbClr val="000000"/>
                </a:solidFill>
                <a:latin typeface="Arial"/>
                <a:ea typeface="Arial"/>
                <a:cs typeface="Arial"/>
              </a:defRPr>
            </a:pPr>
            <a:r>
              <a:rPr sz="4050" b="1" dirty="0">
                <a:solidFill>
                  <a:srgbClr val="000000"/>
                </a:solidFill>
                <a:latin typeface="Arial"/>
                <a:ea typeface="Arial"/>
                <a:cs typeface="Arial"/>
              </a:rPr>
              <a:t>COLLEGENOTICE</a:t>
            </a:r>
          </a:p>
        </p:txBody>
      </p:sp>
      <p:sp>
        <p:nvSpPr>
          <p:cNvPr id="2" name="Digital Notice Board System">
            <a:extLst>
              <a:ext uri="{FF2B5EF4-FFF2-40B4-BE49-F238E27FC236}">
                <a16:creationId xmlns:a16="http://schemas.microsoft.com/office/drawing/2014/main" id="{17F8A0B6-2E4D-469D-B6CF-34C7537672D9}"/>
              </a:ext>
            </a:extLst>
          </p:cNvPr>
          <p:cNvSpPr>
            <a:spLocks noGrp="1"/>
          </p:cNvSpPr>
          <p:nvPr/>
        </p:nvSpPr>
        <p:spPr>
          <a:xfrm>
            <a:off x="762000" y="1524000"/>
            <a:ext cx="10668000" cy="495300"/>
          </a:xfrm>
          <a:prstGeom prst="rect">
            <a:avLst/>
          </a:prstGeom>
          <a:noFill/>
          <a:ln w="0">
            <a:noFill/>
          </a:ln>
        </p:spPr>
        <p:txBody>
          <a:bodyPr lIns="0" tIns="0" rIns="0" bIns="0" anchor="t">
            <a:noAutofit/>
          </a:bodyPr>
          <a:lstStyle>
            <a:defPPr algn="ctr">
              <a:defRPr sz="2550" b="0">
                <a:solidFill>
                  <a:srgbClr val="000000"/>
                </a:solidFill>
                <a:latin typeface="Arial"/>
                <a:ea typeface="Arial"/>
                <a:cs typeface="Arial"/>
              </a:defRPr>
            </a:defPPr>
          </a:lstStyle>
          <a:p>
            <a:pPr algn="ctr">
              <a:defRPr sz="2550" b="0">
                <a:solidFill>
                  <a:srgbClr val="000000"/>
                </a:solidFill>
                <a:latin typeface="Arial"/>
                <a:ea typeface="Arial"/>
                <a:cs typeface="Arial"/>
              </a:defRPr>
            </a:pPr>
            <a:r>
              <a:rPr sz="2550" b="0">
                <a:solidFill>
                  <a:srgbClr val="000000"/>
                </a:solidFill>
                <a:latin typeface="Arial"/>
                <a:ea typeface="Arial"/>
                <a:cs typeface="Arial"/>
              </a:rPr>
              <a:t>Digital Notice Board System</a:t>
            </a:r>
          </a:p>
        </p:txBody>
      </p:sp>
      <p:sp>
        <p:nvSpPr>
          <p:cNvPr id="3" name="MCA Mini Project Final Presentation">
            <a:extLst>
              <a:ext uri="{FF2B5EF4-FFF2-40B4-BE49-F238E27FC236}">
                <a16:creationId xmlns:a16="http://schemas.microsoft.com/office/drawing/2014/main" id="{0C26B753-43BA-4C97-9046-C8C862E6701F}"/>
              </a:ext>
            </a:extLst>
          </p:cNvPr>
          <p:cNvSpPr>
            <a:spLocks noGrp="1"/>
          </p:cNvSpPr>
          <p:nvPr/>
        </p:nvSpPr>
        <p:spPr>
          <a:xfrm>
            <a:off x="762000" y="2162175"/>
            <a:ext cx="10668000" cy="400050"/>
          </a:xfrm>
          <a:prstGeom prst="rect">
            <a:avLst/>
          </a:prstGeom>
          <a:noFill/>
          <a:ln w="0">
            <a:noFill/>
          </a:ln>
        </p:spPr>
        <p:txBody>
          <a:bodyPr lIns="0" tIns="0" rIns="0" bIns="0" anchor="t">
            <a:noAutofit/>
          </a:bodyPr>
          <a:lstStyle>
            <a:defPPr algn="ctr">
              <a:defRPr sz="1950" b="0">
                <a:solidFill>
                  <a:srgbClr val="000000"/>
                </a:solidFill>
                <a:latin typeface="Arial"/>
                <a:ea typeface="Arial"/>
                <a:cs typeface="Arial"/>
              </a:defRPr>
            </a:defPPr>
          </a:lstStyle>
          <a:p>
            <a:pPr algn="ctr">
              <a:defRPr sz="1950" b="0">
                <a:solidFill>
                  <a:srgbClr val="000000"/>
                </a:solidFill>
                <a:latin typeface="Arial"/>
                <a:ea typeface="Arial"/>
                <a:cs typeface="Arial"/>
              </a:defRPr>
            </a:pPr>
            <a:r>
              <a:rPr sz="1950" b="0">
                <a:solidFill>
                  <a:srgbClr val="000000"/>
                </a:solidFill>
                <a:latin typeface="Arial"/>
                <a:ea typeface="Arial"/>
                <a:cs typeface="Arial"/>
              </a:rPr>
              <a:t>MCA Mini Project Final Presentation</a:t>
            </a:r>
          </a:p>
        </p:txBody>
      </p:sp>
      <p:sp>
        <p:nvSpPr>
          <p:cNvPr id="4" name="Nithin Mathew&#10;Roll No. 40, S2 MCA">
            <a:extLst>
              <a:ext uri="{FF2B5EF4-FFF2-40B4-BE49-F238E27FC236}">
                <a16:creationId xmlns:a16="http://schemas.microsoft.com/office/drawing/2014/main" id="{5A5926A3-45E0-4FDF-94BB-A3207471C445}"/>
              </a:ext>
            </a:extLst>
          </p:cNvPr>
          <p:cNvSpPr>
            <a:spLocks noGrp="1"/>
          </p:cNvSpPr>
          <p:nvPr/>
        </p:nvSpPr>
        <p:spPr>
          <a:xfrm>
            <a:off x="952500" y="3143250"/>
            <a:ext cx="10287000" cy="762000"/>
          </a:xfrm>
          <a:prstGeom prst="rect">
            <a:avLst/>
          </a:prstGeom>
          <a:noFill/>
          <a:ln w="0">
            <a:noFill/>
          </a:ln>
        </p:spPr>
        <p:txBody>
          <a:bodyPr lIns="0" tIns="0" rIns="0" bIns="0" anchor="t">
            <a:noAutofit/>
          </a:bodyPr>
          <a:lstStyle>
            <a:defPPr algn="ctr">
              <a:defRPr sz="1950" b="0">
                <a:solidFill>
                  <a:srgbClr val="000000"/>
                </a:solidFill>
                <a:latin typeface="Arial"/>
                <a:ea typeface="Arial"/>
                <a:cs typeface="Arial"/>
              </a:defRPr>
            </a:defPPr>
          </a:lstStyle>
          <a:p>
            <a:pPr algn="ctr">
              <a:defRPr sz="1950" b="0">
                <a:solidFill>
                  <a:srgbClr val="000000"/>
                </a:solidFill>
                <a:latin typeface="Arial"/>
                <a:ea typeface="Arial"/>
                <a:cs typeface="Arial"/>
              </a:defRPr>
            </a:pPr>
            <a:r>
              <a:rPr sz="1950" b="0">
                <a:solidFill>
                  <a:srgbClr val="000000"/>
                </a:solidFill>
                <a:latin typeface="Arial"/>
                <a:ea typeface="Arial"/>
                <a:cs typeface="Arial"/>
              </a:rPr>
              <a:t>Nithin Mathew</a:t>
            </a:r>
          </a:p>
          <a:p>
            <a:pPr algn="ctr">
              <a:defRPr sz="1950" b="0">
                <a:solidFill>
                  <a:srgbClr val="000000"/>
                </a:solidFill>
                <a:latin typeface="Arial"/>
                <a:ea typeface="Arial"/>
                <a:cs typeface="Arial"/>
              </a:defRPr>
            </a:pPr>
            <a:r>
              <a:rPr sz="1950" b="0">
                <a:solidFill>
                  <a:srgbClr val="000000"/>
                </a:solidFill>
                <a:latin typeface="Arial"/>
                <a:ea typeface="Arial"/>
                <a:cs typeface="Arial"/>
              </a:rPr>
              <a:t>Roll No. 40, S2 MCA</a:t>
            </a:r>
          </a:p>
        </p:txBody>
      </p:sp>
      <p:sp>
        <p:nvSpPr>
          <p:cNvPr id="5" name="Guide: Minnu V B, Assistant Professor">
            <a:extLst>
              <a:ext uri="{FF2B5EF4-FFF2-40B4-BE49-F238E27FC236}">
                <a16:creationId xmlns:a16="http://schemas.microsoft.com/office/drawing/2014/main" id="{C7C10F7F-13A5-480A-8902-A97F933584A3}"/>
              </a:ext>
            </a:extLst>
          </p:cNvPr>
          <p:cNvSpPr>
            <a:spLocks noGrp="1"/>
          </p:cNvSpPr>
          <p:nvPr/>
        </p:nvSpPr>
        <p:spPr>
          <a:xfrm>
            <a:off x="952500" y="4162425"/>
            <a:ext cx="10287000" cy="400050"/>
          </a:xfrm>
          <a:prstGeom prst="rect">
            <a:avLst/>
          </a:prstGeom>
          <a:noFill/>
          <a:ln w="0">
            <a:noFill/>
          </a:ln>
        </p:spPr>
        <p:txBody>
          <a:bodyPr lIns="0" tIns="0" rIns="0" bIns="0" anchor="t">
            <a:noAutofit/>
          </a:bodyPr>
          <a:lstStyle>
            <a:defPPr algn="ctr">
              <a:defRPr sz="1950" b="0">
                <a:solidFill>
                  <a:srgbClr val="000000"/>
                </a:solidFill>
                <a:latin typeface="Arial"/>
                <a:ea typeface="Arial"/>
                <a:cs typeface="Arial"/>
              </a:defRPr>
            </a:defPPr>
          </a:lstStyle>
          <a:p>
            <a:pPr algn="ctr">
              <a:defRPr sz="1950" b="0">
                <a:solidFill>
                  <a:srgbClr val="000000"/>
                </a:solidFill>
                <a:latin typeface="Arial"/>
                <a:ea typeface="Arial"/>
                <a:cs typeface="Arial"/>
              </a:defRPr>
            </a:pPr>
            <a:r>
              <a:rPr sz="1950" b="0">
                <a:solidFill>
                  <a:srgbClr val="000000"/>
                </a:solidFill>
                <a:latin typeface="Arial"/>
                <a:ea typeface="Arial"/>
                <a:cs typeface="Arial"/>
              </a:rPr>
              <a:t>Guide: Minnu V B, Assistant Professor</a:t>
            </a:r>
          </a:p>
        </p:txBody>
      </p:sp>
      <p:sp>
        <p:nvSpPr>
          <p:cNvPr id="6" name="Department of Computer Applications (DCA)&#10;Mangalam College o">
            <a:extLst>
              <a:ext uri="{FF2B5EF4-FFF2-40B4-BE49-F238E27FC236}">
                <a16:creationId xmlns:a16="http://schemas.microsoft.com/office/drawing/2014/main" id="{91981F22-D612-4265-8AD5-F9F558D98218}"/>
              </a:ext>
            </a:extLst>
          </p:cNvPr>
          <p:cNvSpPr>
            <a:spLocks noGrp="1"/>
          </p:cNvSpPr>
          <p:nvPr/>
        </p:nvSpPr>
        <p:spPr>
          <a:xfrm>
            <a:off x="952500" y="4905375"/>
            <a:ext cx="10287000" cy="1095375"/>
          </a:xfrm>
          <a:prstGeom prst="rect">
            <a:avLst/>
          </a:prstGeom>
          <a:noFill/>
          <a:ln w="0">
            <a:noFill/>
          </a:ln>
        </p:spPr>
        <p:txBody>
          <a:bodyPr lIns="0" tIns="0" rIns="0" bIns="0" anchor="t">
            <a:noAutofit/>
          </a:bodyPr>
          <a:lstStyle>
            <a:defPPr algn="ctr">
              <a:defRPr sz="1875" b="0">
                <a:solidFill>
                  <a:srgbClr val="000000"/>
                </a:solidFill>
                <a:latin typeface="Arial"/>
                <a:ea typeface="Arial"/>
                <a:cs typeface="Arial"/>
              </a:defRPr>
            </a:defPPr>
          </a:lstStyle>
          <a:p>
            <a:pPr algn="ctr">
              <a:defRPr sz="1875" b="0">
                <a:solidFill>
                  <a:srgbClr val="000000"/>
                </a:solidFill>
                <a:latin typeface="Arial"/>
                <a:ea typeface="Arial"/>
                <a:cs typeface="Arial"/>
              </a:defRPr>
            </a:pPr>
            <a:r>
              <a:rPr sz="1875" b="0" dirty="0">
                <a:solidFill>
                  <a:srgbClr val="000000"/>
                </a:solidFill>
                <a:latin typeface="Arial"/>
                <a:ea typeface="Arial"/>
                <a:cs typeface="Arial"/>
              </a:rPr>
              <a:t>Department of Computer Applications (DCA)</a:t>
            </a:r>
          </a:p>
          <a:p>
            <a:pPr algn="ctr">
              <a:defRPr sz="1875" b="0">
                <a:solidFill>
                  <a:srgbClr val="000000"/>
                </a:solidFill>
                <a:latin typeface="Arial"/>
                <a:ea typeface="Arial"/>
                <a:cs typeface="Arial"/>
              </a:defRPr>
            </a:pPr>
            <a:r>
              <a:rPr sz="1875" b="0" dirty="0">
                <a:solidFill>
                  <a:srgbClr val="000000"/>
                </a:solidFill>
                <a:latin typeface="Arial"/>
                <a:ea typeface="Arial"/>
                <a:cs typeface="Arial"/>
              </a:rPr>
              <a:t>Mangalam College of Engineering</a:t>
            </a:r>
          </a:p>
          <a:p>
            <a:pPr algn="ctr">
              <a:defRPr sz="1875" b="0">
                <a:solidFill>
                  <a:srgbClr val="000000"/>
                </a:solidFill>
                <a:latin typeface="Arial"/>
                <a:ea typeface="Arial"/>
                <a:cs typeface="Arial"/>
              </a:defRPr>
            </a:pPr>
            <a:r>
              <a:rPr sz="1875" b="0" dirty="0">
                <a:solidFill>
                  <a:srgbClr val="000000"/>
                </a:solidFill>
                <a:latin typeface="Arial"/>
                <a:ea typeface="Arial"/>
                <a:cs typeface="Arial"/>
              </a:rPr>
              <a:t>Academic Year 202</a:t>
            </a:r>
            <a:r>
              <a:rPr lang="en-US" sz="1875" b="0" dirty="0">
                <a:solidFill>
                  <a:srgbClr val="000000"/>
                </a:solidFill>
                <a:latin typeface="Arial"/>
                <a:ea typeface="Arial"/>
                <a:cs typeface="Arial"/>
              </a:rPr>
              <a:t>5</a:t>
            </a:r>
            <a:r>
              <a:rPr sz="1875" b="0" dirty="0">
                <a:solidFill>
                  <a:srgbClr val="000000"/>
                </a:solidFill>
                <a:latin typeface="Arial"/>
                <a:ea typeface="Arial"/>
                <a:cs typeface="Arial"/>
              </a:rPr>
              <a:t>–2027</a:t>
            </a:r>
          </a:p>
        </p:txBody>
      </p:sp>
      <p:sp>
        <p:nvSpPr>
          <p:cNvPr id="7" name="1">
            <a:extLst>
              <a:ext uri="{FF2B5EF4-FFF2-40B4-BE49-F238E27FC236}">
                <a16:creationId xmlns:a16="http://schemas.microsoft.com/office/drawing/2014/main" id="{A3FED320-BE5F-418B-9530-CFB446E22527}"/>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1</a:t>
            </a:r>
          </a:p>
        </p:txBody>
      </p:sp>
    </p:spTree>
    <p:extLst>
      <p:ext uri="{BB962C8B-B14F-4D97-AF65-F5344CB8AC3E}">
        <p14:creationId xmlns:p14="http://schemas.microsoft.com/office/powerpoint/2010/main" val="589575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Introduction">
            <a:extLst>
              <a:ext uri="{FF2B5EF4-FFF2-40B4-BE49-F238E27FC236}">
                <a16:creationId xmlns:a16="http://schemas.microsoft.com/office/drawing/2014/main" id="{0F2F209E-175F-4E00-86FB-0B9DC7739D26}"/>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Introduction</a:t>
            </a:r>
          </a:p>
        </p:txBody>
      </p:sp>
      <p:sp>
        <p:nvSpPr>
          <p:cNvPr id="2" name="Rectangle 1">
            <a:extLst>
              <a:ext uri="{FF2B5EF4-FFF2-40B4-BE49-F238E27FC236}">
                <a16:creationId xmlns:a16="http://schemas.microsoft.com/office/drawing/2014/main" id="{5B22CB1D-BD26-415B-9BA9-7CB9ECE7C7A7}"/>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CollegeNotice brings department and campus announcements into one web application.</a:t>
            </a:r>
          </a:p>
          <a:p>
            <a:pPr marL="279400" indent="-152400" algn="l">
              <a:spcAft>
                <a:spcPts val="2200"/>
              </a:spcAft>
              <a:buChar char="•"/>
              <a:defRPr sz="2250" b="0">
                <a:solidFill>
                  <a:srgbClr val="000000"/>
                </a:solidFill>
                <a:latin typeface="Arial"/>
                <a:ea typeface="Arial"/>
                <a:cs typeface="Arial"/>
              </a:defRPr>
            </a:pPr>
            <a:r>
              <a:t>Students can find exam schedules, events, academic updates and other notices.</a:t>
            </a:r>
          </a:p>
          <a:p>
            <a:pPr marL="279400" indent="-152400" algn="l">
              <a:spcAft>
                <a:spcPts val="2200"/>
              </a:spcAft>
              <a:buChar char="•"/>
              <a:defRPr sz="2250" b="0">
                <a:solidFill>
                  <a:srgbClr val="000000"/>
                </a:solidFill>
                <a:latin typeface="Arial"/>
                <a:ea typeface="Arial"/>
                <a:cs typeface="Arial"/>
              </a:defRPr>
            </a:pPr>
            <a:r>
              <a:t>Administrators publish and maintain notices through an authorised account.</a:t>
            </a:r>
          </a:p>
          <a:p>
            <a:pPr marL="279400" indent="-152400" algn="l">
              <a:spcAft>
                <a:spcPts val="2200"/>
              </a:spcAft>
              <a:buChar char="•"/>
              <a:defRPr sz="2250" b="0">
                <a:solidFill>
                  <a:srgbClr val="000000"/>
                </a:solidFill>
                <a:latin typeface="Arial"/>
                <a:ea typeface="Arial"/>
                <a:cs typeface="Arial"/>
              </a:defRPr>
            </a:pPr>
            <a:r>
              <a:t>The project supports clearer access to current information and important deadlines.</a:t>
            </a:r>
          </a:p>
        </p:txBody>
      </p:sp>
      <p:sp>
        <p:nvSpPr>
          <p:cNvPr id="3" name="2">
            <a:extLst>
              <a:ext uri="{FF2B5EF4-FFF2-40B4-BE49-F238E27FC236}">
                <a16:creationId xmlns:a16="http://schemas.microsoft.com/office/drawing/2014/main" id="{3C713DCD-A013-4C00-B3FB-2D2C39BB07EC}"/>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a:t>
            </a:r>
          </a:p>
        </p:txBody>
      </p:sp>
    </p:spTree>
    <p:extLst>
      <p:ext uri="{BB962C8B-B14F-4D97-AF65-F5344CB8AC3E}">
        <p14:creationId xmlns:p14="http://schemas.microsoft.com/office/powerpoint/2010/main" val="795852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Abstract">
            <a:extLst>
              <a:ext uri="{FF2B5EF4-FFF2-40B4-BE49-F238E27FC236}">
                <a16:creationId xmlns:a16="http://schemas.microsoft.com/office/drawing/2014/main" id="{F4890B5A-2498-4B4A-AB17-1A33DE03FD0F}"/>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Abstract</a:t>
            </a:r>
          </a:p>
        </p:txBody>
      </p:sp>
      <p:sp>
        <p:nvSpPr>
          <p:cNvPr id="2" name="Rectangle 1">
            <a:extLst>
              <a:ext uri="{FF2B5EF4-FFF2-40B4-BE49-F238E27FC236}">
                <a16:creationId xmlns:a16="http://schemas.microsoft.com/office/drawing/2014/main" id="{0288779A-3B1B-4520-8CDA-B70206F2F6E0}"/>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Scattered notices make important updates difficult to find and revisit.</a:t>
            </a:r>
          </a:p>
          <a:p>
            <a:pPr marL="279400" indent="-152400" algn="l">
              <a:spcAft>
                <a:spcPts val="2200"/>
              </a:spcAft>
              <a:buChar char="•"/>
              <a:defRPr sz="2250" b="0">
                <a:solidFill>
                  <a:srgbClr val="000000"/>
                </a:solidFill>
                <a:latin typeface="Arial"/>
                <a:ea typeface="Arial"/>
                <a:cs typeface="Arial"/>
              </a:defRPr>
            </a:pPr>
            <a:r>
              <a:t>CollegeNotice provides a central board with search, bookmarks and notifications.</a:t>
            </a:r>
          </a:p>
          <a:p>
            <a:pPr marL="279400" indent="-152400" algn="l">
              <a:spcAft>
                <a:spcPts val="2200"/>
              </a:spcAft>
              <a:buChar char="•"/>
              <a:defRPr sz="2250" b="0">
                <a:solidFill>
                  <a:srgbClr val="000000"/>
                </a:solidFill>
                <a:latin typeface="Arial"/>
                <a:ea typeface="Arial"/>
                <a:cs typeface="Arial"/>
              </a:defRPr>
            </a:pPr>
            <a:r>
              <a:t>Django and REST APIs support the application. SQLite powers the local demonstration.</a:t>
            </a:r>
          </a:p>
          <a:p>
            <a:pPr marL="279400" indent="-152400" algn="l">
              <a:spcAft>
                <a:spcPts val="2200"/>
              </a:spcAft>
              <a:buChar char="•"/>
              <a:defRPr sz="2250" b="0">
                <a:solidFill>
                  <a:srgbClr val="000000"/>
                </a:solidFill>
                <a:latin typeface="Arial"/>
                <a:ea typeface="Arial"/>
                <a:cs typeface="Arial"/>
              </a:defRPr>
            </a:pPr>
            <a:r>
              <a:t>Local summaries, priority rules and English–Malayalam translation assist readers.</a:t>
            </a:r>
          </a:p>
          <a:p>
            <a:pPr marL="279400" indent="-152400" algn="l">
              <a:spcAft>
                <a:spcPts val="2200"/>
              </a:spcAft>
              <a:buChar char="•"/>
              <a:defRPr sz="2250" b="0">
                <a:solidFill>
                  <a:srgbClr val="000000"/>
                </a:solidFill>
                <a:latin typeface="Arial"/>
                <a:ea typeface="Arial"/>
                <a:cs typeface="Arial"/>
              </a:defRPr>
            </a:pPr>
            <a:r>
              <a:t>The working prototype demonstrates student access and administrator publishing.</a:t>
            </a:r>
          </a:p>
        </p:txBody>
      </p:sp>
      <p:sp>
        <p:nvSpPr>
          <p:cNvPr id="3" name="3">
            <a:extLst>
              <a:ext uri="{FF2B5EF4-FFF2-40B4-BE49-F238E27FC236}">
                <a16:creationId xmlns:a16="http://schemas.microsoft.com/office/drawing/2014/main" id="{201A7150-DA68-4F01-B0CB-2154A8F939A0}"/>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3</a:t>
            </a:r>
          </a:p>
        </p:txBody>
      </p:sp>
    </p:spTree>
    <p:extLst>
      <p:ext uri="{BB962C8B-B14F-4D97-AF65-F5344CB8AC3E}">
        <p14:creationId xmlns:p14="http://schemas.microsoft.com/office/powerpoint/2010/main" val="933571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roblem Definition">
            <a:extLst>
              <a:ext uri="{FF2B5EF4-FFF2-40B4-BE49-F238E27FC236}">
                <a16:creationId xmlns:a16="http://schemas.microsoft.com/office/drawing/2014/main" id="{702CCB46-AAFB-4273-9F9F-6023868B441D}"/>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Problem Definition</a:t>
            </a:r>
          </a:p>
        </p:txBody>
      </p:sp>
      <p:sp>
        <p:nvSpPr>
          <p:cNvPr id="2" name="Students need a reliable way to find current college announc">
            <a:extLst>
              <a:ext uri="{FF2B5EF4-FFF2-40B4-BE49-F238E27FC236}">
                <a16:creationId xmlns:a16="http://schemas.microsoft.com/office/drawing/2014/main" id="{B9FBC831-4E00-4359-8A22-F1A6DF61ED22}"/>
              </a:ext>
            </a:extLst>
          </p:cNvPr>
          <p:cNvSpPr>
            <a:spLocks noGrp="1"/>
          </p:cNvSpPr>
          <p:nvPr/>
        </p:nvSpPr>
        <p:spPr>
          <a:xfrm>
            <a:off x="762000" y="2324100"/>
            <a:ext cx="10668000" cy="2190750"/>
          </a:xfrm>
          <a:prstGeom prst="rect">
            <a:avLst/>
          </a:prstGeom>
          <a:noFill/>
          <a:ln w="0">
            <a:noFill/>
          </a:ln>
        </p:spPr>
        <p:txBody>
          <a:bodyPr lIns="0" tIns="0" rIns="0" bIns="0" anchor="t">
            <a:noAutofit/>
          </a:bodyPr>
          <a:lstStyle>
            <a:defPPr algn="l">
              <a:defRPr sz="2850" b="0">
                <a:solidFill>
                  <a:srgbClr val="000000"/>
                </a:solidFill>
                <a:latin typeface="Arial"/>
                <a:ea typeface="Arial"/>
                <a:cs typeface="Arial"/>
              </a:defRPr>
            </a:defPPr>
          </a:lstStyle>
          <a:p>
            <a:pPr algn="l">
              <a:defRPr sz="2850" b="0">
                <a:solidFill>
                  <a:srgbClr val="000000"/>
                </a:solidFill>
                <a:latin typeface="Arial"/>
                <a:ea typeface="Arial"/>
                <a:cs typeface="Arial"/>
              </a:defRPr>
            </a:pPr>
            <a:r>
              <a:rPr sz="2850" b="0">
                <a:solidFill>
                  <a:srgbClr val="000000"/>
                </a:solidFill>
                <a:latin typeface="Arial"/>
                <a:ea typeface="Arial"/>
                <a:cs typeface="Arial"/>
              </a:rPr>
              <a:t>Students need a reliable way to find current college announcements because physical boards and informal message groups do not provide one searchable, organised record.</a:t>
            </a:r>
          </a:p>
        </p:txBody>
      </p:sp>
      <p:sp>
        <p:nvSpPr>
          <p:cNvPr id="3" name="4">
            <a:extLst>
              <a:ext uri="{FF2B5EF4-FFF2-40B4-BE49-F238E27FC236}">
                <a16:creationId xmlns:a16="http://schemas.microsoft.com/office/drawing/2014/main" id="{26852DD4-1F88-45A5-9C3D-479D8FAFE6A7}"/>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4</a:t>
            </a:r>
          </a:p>
        </p:txBody>
      </p:sp>
    </p:spTree>
    <p:extLst>
      <p:ext uri="{BB962C8B-B14F-4D97-AF65-F5344CB8AC3E}">
        <p14:creationId xmlns:p14="http://schemas.microsoft.com/office/powerpoint/2010/main" val="715421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Objectives">
            <a:extLst>
              <a:ext uri="{FF2B5EF4-FFF2-40B4-BE49-F238E27FC236}">
                <a16:creationId xmlns:a16="http://schemas.microsoft.com/office/drawing/2014/main" id="{63883346-D34D-4FA6-AC2B-F617EFADAACB}"/>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Objectives</a:t>
            </a:r>
          </a:p>
        </p:txBody>
      </p:sp>
      <p:sp>
        <p:nvSpPr>
          <p:cNvPr id="2" name="Rectangle 1">
            <a:extLst>
              <a:ext uri="{FF2B5EF4-FFF2-40B4-BE49-F238E27FC236}">
                <a16:creationId xmlns:a16="http://schemas.microsoft.com/office/drawing/2014/main" id="{2F12E5A0-2BCB-40C0-ADD2-00AB1A952592}"/>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Provide a central location for current college announcements.</a:t>
            </a:r>
          </a:p>
          <a:p>
            <a:pPr marL="279400" indent="-152400" algn="l">
              <a:spcAft>
                <a:spcPts val="2200"/>
              </a:spcAft>
              <a:buChar char="•"/>
              <a:defRPr sz="2250" b="0">
                <a:solidFill>
                  <a:srgbClr val="000000"/>
                </a:solidFill>
                <a:latin typeface="Arial"/>
                <a:ea typeface="Arial"/>
                <a:cs typeface="Arial"/>
              </a:defRPr>
            </a:pPr>
            <a:r>
              <a:t>Support department, category, date and keyword filtering.</a:t>
            </a:r>
          </a:p>
          <a:p>
            <a:pPr marL="279400" indent="-152400" algn="l">
              <a:spcAft>
                <a:spcPts val="2200"/>
              </a:spcAft>
              <a:buChar char="•"/>
              <a:defRPr sz="2250" b="0">
                <a:solidFill>
                  <a:srgbClr val="000000"/>
                </a:solidFill>
                <a:latin typeface="Arial"/>
                <a:ea typeface="Arial"/>
                <a:cs typeface="Arial"/>
              </a:defRPr>
            </a:pPr>
            <a:r>
              <a:t>Manage publication, expiry and archival through authorised accounts.</a:t>
            </a:r>
          </a:p>
          <a:p>
            <a:pPr marL="279400" indent="-152400" algn="l">
              <a:spcAft>
                <a:spcPts val="2200"/>
              </a:spcAft>
              <a:buChar char="•"/>
              <a:defRPr sz="2250" b="0">
                <a:solidFill>
                  <a:srgbClr val="000000"/>
                </a:solidFill>
                <a:latin typeface="Arial"/>
                <a:ea typeface="Arial"/>
                <a:cs typeface="Arial"/>
              </a:defRPr>
            </a:pPr>
            <a:r>
              <a:t>Help students save notices and receive relevant alerts.</a:t>
            </a:r>
          </a:p>
          <a:p>
            <a:pPr marL="279400" indent="-152400" algn="l">
              <a:spcAft>
                <a:spcPts val="2200"/>
              </a:spcAft>
              <a:buChar char="•"/>
              <a:defRPr sz="2250" b="0">
                <a:solidFill>
                  <a:srgbClr val="000000"/>
                </a:solidFill>
                <a:latin typeface="Arial"/>
                <a:ea typeface="Arial"/>
                <a:cs typeface="Arial"/>
              </a:defRPr>
            </a:pPr>
            <a:r>
              <a:t>Improve readability through summaries and English–Malayalam translation.</a:t>
            </a:r>
          </a:p>
        </p:txBody>
      </p:sp>
      <p:sp>
        <p:nvSpPr>
          <p:cNvPr id="3" name="5">
            <a:extLst>
              <a:ext uri="{FF2B5EF4-FFF2-40B4-BE49-F238E27FC236}">
                <a16:creationId xmlns:a16="http://schemas.microsoft.com/office/drawing/2014/main" id="{C0DB34CB-FA39-4050-AEC1-EF53E23F87A9}"/>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5</a:t>
            </a:r>
          </a:p>
        </p:txBody>
      </p:sp>
    </p:spTree>
    <p:extLst>
      <p:ext uri="{BB962C8B-B14F-4D97-AF65-F5344CB8AC3E}">
        <p14:creationId xmlns:p14="http://schemas.microsoft.com/office/powerpoint/2010/main" val="1943335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Existing System">
            <a:extLst>
              <a:ext uri="{FF2B5EF4-FFF2-40B4-BE49-F238E27FC236}">
                <a16:creationId xmlns:a16="http://schemas.microsoft.com/office/drawing/2014/main" id="{0CC666C3-4C16-4CDA-8A07-8A8208CE1388}"/>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Existing System</a:t>
            </a:r>
          </a:p>
        </p:txBody>
      </p:sp>
      <p:sp>
        <p:nvSpPr>
          <p:cNvPr id="2" name="Rectangle 1">
            <a:extLst>
              <a:ext uri="{FF2B5EF4-FFF2-40B4-BE49-F238E27FC236}">
                <a16:creationId xmlns:a16="http://schemas.microsoft.com/office/drawing/2014/main" id="{5D3EDC42-895B-44C9-9B6B-41C5C16741B3}"/>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Physical notice boards require students to visit the display location.</a:t>
            </a:r>
          </a:p>
          <a:p>
            <a:pPr marL="279400" indent="-152400" algn="l">
              <a:spcAft>
                <a:spcPts val="2200"/>
              </a:spcAft>
              <a:buChar char="•"/>
              <a:defRPr sz="2250" b="0">
                <a:solidFill>
                  <a:srgbClr val="000000"/>
                </a:solidFill>
                <a:latin typeface="Arial"/>
                <a:ea typeface="Arial"/>
                <a:cs typeface="Arial"/>
              </a:defRPr>
            </a:pPr>
            <a:r>
              <a:t>Informal group messages can push older announcements out of view.</a:t>
            </a:r>
          </a:p>
          <a:p>
            <a:pPr marL="279400" indent="-152400" algn="l">
              <a:spcAft>
                <a:spcPts val="2200"/>
              </a:spcAft>
              <a:buChar char="•"/>
              <a:defRPr sz="2250" b="0">
                <a:solidFill>
                  <a:srgbClr val="000000"/>
                </a:solidFill>
                <a:latin typeface="Arial"/>
                <a:ea typeface="Arial"/>
                <a:cs typeface="Arial"/>
              </a:defRPr>
            </a:pPr>
            <a:r>
              <a:t>Searching by department, category or date is difficult across separate channels.</a:t>
            </a:r>
          </a:p>
          <a:p>
            <a:pPr marL="279400" indent="-152400" algn="l">
              <a:spcAft>
                <a:spcPts val="2200"/>
              </a:spcAft>
              <a:buChar char="•"/>
              <a:defRPr sz="2250" b="0">
                <a:solidFill>
                  <a:srgbClr val="000000"/>
                </a:solidFill>
                <a:latin typeface="Arial"/>
                <a:ea typeface="Arial"/>
                <a:cs typeface="Arial"/>
              </a:defRPr>
            </a:pPr>
            <a:r>
              <a:t>Staff must manually track outdated notices and repeated enquiries.</a:t>
            </a:r>
          </a:p>
        </p:txBody>
      </p:sp>
      <p:sp>
        <p:nvSpPr>
          <p:cNvPr id="3" name="6">
            <a:extLst>
              <a:ext uri="{FF2B5EF4-FFF2-40B4-BE49-F238E27FC236}">
                <a16:creationId xmlns:a16="http://schemas.microsoft.com/office/drawing/2014/main" id="{65FC664C-1BE5-45B3-960E-62459D91B851}"/>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6</a:t>
            </a:r>
          </a:p>
        </p:txBody>
      </p:sp>
    </p:spTree>
    <p:extLst>
      <p:ext uri="{BB962C8B-B14F-4D97-AF65-F5344CB8AC3E}">
        <p14:creationId xmlns:p14="http://schemas.microsoft.com/office/powerpoint/2010/main" val="1144102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roposed System">
            <a:extLst>
              <a:ext uri="{FF2B5EF4-FFF2-40B4-BE49-F238E27FC236}">
                <a16:creationId xmlns:a16="http://schemas.microsoft.com/office/drawing/2014/main" id="{DBBC437B-BD65-4743-B6DD-7D4FBE9102D6}"/>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Proposed System</a:t>
            </a:r>
          </a:p>
        </p:txBody>
      </p:sp>
      <p:sp>
        <p:nvSpPr>
          <p:cNvPr id="2" name="Rectangle 1">
            <a:extLst>
              <a:ext uri="{FF2B5EF4-FFF2-40B4-BE49-F238E27FC236}">
                <a16:creationId xmlns:a16="http://schemas.microsoft.com/office/drawing/2014/main" id="{147A236E-A0A5-45AB-9570-1920DF1F40DE}"/>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A responsive web notice board provides one place to publish and read updates.</a:t>
            </a:r>
          </a:p>
          <a:p>
            <a:pPr marL="279400" indent="-152400" algn="l">
              <a:spcAft>
                <a:spcPts val="2200"/>
              </a:spcAft>
              <a:buChar char="•"/>
              <a:defRPr sz="2250" b="0">
                <a:solidFill>
                  <a:srgbClr val="000000"/>
                </a:solidFill>
                <a:latin typeface="Arial"/>
                <a:ea typeface="Arial"/>
                <a:cs typeface="Arial"/>
              </a:defRPr>
            </a:pPr>
            <a:r>
              <a:t>Students search, filter, bookmark and open the original notice.</a:t>
            </a:r>
          </a:p>
          <a:p>
            <a:pPr marL="279400" indent="-152400" algn="l">
              <a:spcAft>
                <a:spcPts val="2200"/>
              </a:spcAft>
              <a:buChar char="•"/>
              <a:defRPr sz="2250" b="0">
                <a:solidFill>
                  <a:srgbClr val="000000"/>
                </a:solidFill>
                <a:latin typeface="Arial"/>
                <a:ea typeface="Arial"/>
                <a:cs typeface="Arial"/>
              </a:defRPr>
            </a:pPr>
            <a:r>
              <a:t>Department administrators manage their own notices. A coordinator handles campus notices.</a:t>
            </a:r>
          </a:p>
          <a:p>
            <a:pPr marL="279400" indent="-152400" algn="l">
              <a:spcAft>
                <a:spcPts val="2200"/>
              </a:spcAft>
              <a:buChar char="•"/>
              <a:defRPr sz="2250" b="0">
                <a:solidFill>
                  <a:srgbClr val="000000"/>
                </a:solidFill>
                <a:latin typeface="Arial"/>
                <a:ea typeface="Arial"/>
                <a:cs typeface="Arial"/>
              </a:defRPr>
            </a:pPr>
            <a:r>
              <a:t>Publication creates relevant alerts, while expiry checks hide outdated notices.</a:t>
            </a:r>
          </a:p>
          <a:p>
            <a:pPr marL="279400" indent="-152400" algn="l">
              <a:spcAft>
                <a:spcPts val="2200"/>
              </a:spcAft>
              <a:buChar char="•"/>
              <a:defRPr sz="2250" b="0">
                <a:solidFill>
                  <a:srgbClr val="000000"/>
                </a:solidFill>
                <a:latin typeface="Arial"/>
                <a:ea typeface="Arial"/>
                <a:cs typeface="Arial"/>
              </a:defRPr>
            </a:pPr>
            <a:r>
              <a:t>Local language assistance supports summaries, priority detection and translation.</a:t>
            </a:r>
          </a:p>
        </p:txBody>
      </p:sp>
      <p:sp>
        <p:nvSpPr>
          <p:cNvPr id="3" name="7">
            <a:extLst>
              <a:ext uri="{FF2B5EF4-FFF2-40B4-BE49-F238E27FC236}">
                <a16:creationId xmlns:a16="http://schemas.microsoft.com/office/drawing/2014/main" id="{80E1FC4C-5383-4ACD-832C-0547BB28C655}"/>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7</a:t>
            </a:r>
          </a:p>
        </p:txBody>
      </p:sp>
    </p:spTree>
    <p:extLst>
      <p:ext uri="{BB962C8B-B14F-4D97-AF65-F5344CB8AC3E}">
        <p14:creationId xmlns:p14="http://schemas.microsoft.com/office/powerpoint/2010/main" val="1144271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cope of the Project">
            <a:extLst>
              <a:ext uri="{FF2B5EF4-FFF2-40B4-BE49-F238E27FC236}">
                <a16:creationId xmlns:a16="http://schemas.microsoft.com/office/drawing/2014/main" id="{755360CF-A6DC-43B0-B56E-C6D11961F7DC}"/>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Scope of the Project</a:t>
            </a:r>
          </a:p>
        </p:txBody>
      </p:sp>
      <p:sp>
        <p:nvSpPr>
          <p:cNvPr id="2" name="Rectangle 1">
            <a:extLst>
              <a:ext uri="{FF2B5EF4-FFF2-40B4-BE49-F238E27FC236}">
                <a16:creationId xmlns:a16="http://schemas.microsoft.com/office/drawing/2014/main" id="{D45C8D93-0EC2-43FD-9942-FDD84CE645F2}"/>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Users: students, department administrators and a campus coordinator.</a:t>
            </a:r>
          </a:p>
          <a:p>
            <a:pPr marL="279400" indent="-152400" algn="l">
              <a:spcAft>
                <a:spcPts val="2200"/>
              </a:spcAft>
              <a:buChar char="•"/>
              <a:defRPr sz="2250" b="0">
                <a:solidFill>
                  <a:srgbClr val="000000"/>
                </a:solidFill>
                <a:latin typeface="Arial"/>
                <a:ea typeface="Arial"/>
                <a:cs typeface="Arial"/>
              </a:defRPr>
            </a:pPr>
            <a:r>
              <a:t>Coverage: notices, attachments, search, bookmarks, alerts and profiles.</a:t>
            </a:r>
          </a:p>
          <a:p>
            <a:pPr marL="279400" indent="-152400" algn="l">
              <a:spcAft>
                <a:spcPts val="2200"/>
              </a:spcAft>
              <a:buChar char="•"/>
              <a:defRPr sz="2250" b="0">
                <a:solidFill>
                  <a:srgbClr val="000000"/>
                </a:solidFill>
                <a:latin typeface="Arial"/>
                <a:ea typeface="Arial"/>
                <a:cs typeface="Arial"/>
              </a:defRPr>
            </a:pPr>
            <a:r>
              <a:t>Administration: publishing, archive, catalogue management and CSV reporting.</a:t>
            </a:r>
          </a:p>
          <a:p>
            <a:pPr marL="279400" indent="-152400" algn="l">
              <a:spcAft>
                <a:spcPts val="2200"/>
              </a:spcAft>
              <a:buChar char="•"/>
              <a:defRPr sz="2250" b="0">
                <a:solidFill>
                  <a:srgbClr val="000000"/>
                </a:solidFill>
                <a:latin typeface="Arial"/>
                <a:ea typeface="Arial"/>
                <a:cs typeface="Arial"/>
              </a:defRPr>
            </a:pPr>
            <a:r>
              <a:t>Application areas: examinations, academics, events, library and placements.</a:t>
            </a:r>
          </a:p>
          <a:p>
            <a:pPr marL="279400" indent="-152400" algn="l">
              <a:spcAft>
                <a:spcPts val="2200"/>
              </a:spcAft>
              <a:buChar char="•"/>
              <a:defRPr sz="2250" b="0">
                <a:solidFill>
                  <a:srgbClr val="000000"/>
                </a:solidFill>
                <a:latin typeface="Arial"/>
                <a:ea typeface="Arial"/>
                <a:cs typeface="Arial"/>
              </a:defRPr>
            </a:pPr>
            <a:r>
              <a:t>Current scope is a local prototype. Institution-wide hosting is future work.</a:t>
            </a:r>
          </a:p>
        </p:txBody>
      </p:sp>
      <p:sp>
        <p:nvSpPr>
          <p:cNvPr id="3" name="8">
            <a:extLst>
              <a:ext uri="{FF2B5EF4-FFF2-40B4-BE49-F238E27FC236}">
                <a16:creationId xmlns:a16="http://schemas.microsoft.com/office/drawing/2014/main" id="{4A5C4273-B507-4AC9-AD57-A1955A97B438}"/>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8</a:t>
            </a:r>
          </a:p>
        </p:txBody>
      </p:sp>
    </p:spTree>
    <p:extLst>
      <p:ext uri="{BB962C8B-B14F-4D97-AF65-F5344CB8AC3E}">
        <p14:creationId xmlns:p14="http://schemas.microsoft.com/office/powerpoint/2010/main" val="1145505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Literature Review">
            <a:extLst>
              <a:ext uri="{FF2B5EF4-FFF2-40B4-BE49-F238E27FC236}">
                <a16:creationId xmlns:a16="http://schemas.microsoft.com/office/drawing/2014/main" id="{58215C02-74E5-4EC7-A17A-8FE47BD88127}"/>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dirty="0">
                <a:solidFill>
                  <a:srgbClr val="000000"/>
                </a:solidFill>
                <a:latin typeface="Arial"/>
                <a:ea typeface="Arial"/>
                <a:cs typeface="Arial"/>
              </a:rPr>
              <a:t>Literature Review</a:t>
            </a:r>
          </a:p>
        </p:txBody>
      </p:sp>
      <p:sp>
        <p:nvSpPr>
          <p:cNvPr id="4" name="9">
            <a:extLst>
              <a:ext uri="{FF2B5EF4-FFF2-40B4-BE49-F238E27FC236}">
                <a16:creationId xmlns:a16="http://schemas.microsoft.com/office/drawing/2014/main" id="{CB755D3C-A04B-4CD3-AE2F-DEE92D2294E3}"/>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9</a:t>
            </a:r>
          </a:p>
        </p:txBody>
      </p:sp>
      <p:graphicFrame>
        <p:nvGraphicFramePr>
          <p:cNvPr id="21" name="Table 0">
            <a:extLst>
              <a:ext uri="{FF2B5EF4-FFF2-40B4-BE49-F238E27FC236}">
                <a16:creationId xmlns:a16="http://schemas.microsoft.com/office/drawing/2014/main" id="{F8C4A5A6-6824-314A-47C9-91F0CD985FFC}"/>
              </a:ext>
            </a:extLst>
          </p:cNvPr>
          <p:cNvGraphicFramePr>
            <a:graphicFrameLocks noGrp="1"/>
          </p:cNvGraphicFramePr>
          <p:nvPr>
            <p:extLst>
              <p:ext uri="{D42A27DB-BD31-4B8C-83A1-F6EECF244321}">
                <p14:modId xmlns:p14="http://schemas.microsoft.com/office/powerpoint/2010/main" val="3548935153"/>
              </p:ext>
            </p:extLst>
          </p:nvPr>
        </p:nvGraphicFramePr>
        <p:xfrm>
          <a:off x="1425676" y="1074481"/>
          <a:ext cx="9813824" cy="5421569"/>
        </p:xfrm>
        <a:graphic>
          <a:graphicData uri="http://schemas.openxmlformats.org/drawingml/2006/table">
            <a:tbl>
              <a:tblPr>
                <a:tableStyleId>{2D5ABB26-0587-4C30-8999-92F81FD0307C}</a:tableStyleId>
              </a:tblPr>
              <a:tblGrid>
                <a:gridCol w="2479243">
                  <a:extLst>
                    <a:ext uri="{9D8B030D-6E8A-4147-A177-3AD203B41FA5}">
                      <a16:colId xmlns:a16="http://schemas.microsoft.com/office/drawing/2014/main" val="20000"/>
                    </a:ext>
                  </a:extLst>
                </a:gridCol>
                <a:gridCol w="1571696">
                  <a:extLst>
                    <a:ext uri="{9D8B030D-6E8A-4147-A177-3AD203B41FA5}">
                      <a16:colId xmlns:a16="http://schemas.microsoft.com/office/drawing/2014/main" val="20001"/>
                    </a:ext>
                  </a:extLst>
                </a:gridCol>
                <a:gridCol w="1257357">
                  <a:extLst>
                    <a:ext uri="{9D8B030D-6E8A-4147-A177-3AD203B41FA5}">
                      <a16:colId xmlns:a16="http://schemas.microsoft.com/office/drawing/2014/main" val="20002"/>
                    </a:ext>
                  </a:extLst>
                </a:gridCol>
                <a:gridCol w="2420074">
                  <a:extLst>
                    <a:ext uri="{9D8B030D-6E8A-4147-A177-3AD203B41FA5}">
                      <a16:colId xmlns:a16="http://schemas.microsoft.com/office/drawing/2014/main" val="20003"/>
                    </a:ext>
                  </a:extLst>
                </a:gridCol>
                <a:gridCol w="2085454">
                  <a:extLst>
                    <a:ext uri="{9D8B030D-6E8A-4147-A177-3AD203B41FA5}">
                      <a16:colId xmlns:a16="http://schemas.microsoft.com/office/drawing/2014/main" val="20004"/>
                    </a:ext>
                  </a:extLst>
                </a:gridCol>
              </a:tblGrid>
              <a:tr h="598730">
                <a:tc>
                  <a:txBody>
                    <a:bodyPr/>
                    <a:lstStyle/>
                    <a:p>
                      <a:pPr marL="0" indent="0" algn="ctr">
                        <a:buNone/>
                      </a:pPr>
                      <a:r>
                        <a:rPr lang="en-US" sz="1000" b="1" dirty="0">
                          <a:solidFill>
                            <a:schemeClr val="tx1"/>
                          </a:solidFill>
                        </a:rPr>
                        <a:t>Title &amp; Year</a:t>
                      </a:r>
                      <a:endParaRPr lang="en-US" sz="1000" dirty="0">
                        <a:solidFill>
                          <a:schemeClr val="tx1"/>
                        </a:solidFill>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00" b="1" dirty="0">
                          <a:solidFill>
                            <a:schemeClr val="tx1"/>
                          </a:solidFill>
                        </a:rPr>
                        <a:t>Authors</a:t>
                      </a:r>
                      <a:endParaRPr lang="en-US" sz="1000" dirty="0">
                        <a:solidFill>
                          <a:schemeClr val="tx1"/>
                        </a:solidFill>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00" b="1" dirty="0">
                          <a:solidFill>
                            <a:schemeClr val="tx1"/>
                          </a:solidFill>
                        </a:rPr>
                        <a:t>Algorithm</a:t>
                      </a:r>
                      <a:endParaRPr lang="en-US" sz="1000" dirty="0">
                        <a:solidFill>
                          <a:schemeClr val="tx1"/>
                        </a:solidFill>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00" b="1" dirty="0">
                          <a:solidFill>
                            <a:schemeClr val="tx1"/>
                          </a:solidFill>
                        </a:rPr>
                        <a:t>Key Features</a:t>
                      </a:r>
                      <a:endParaRPr lang="en-US" sz="1000" dirty="0">
                        <a:solidFill>
                          <a:schemeClr val="tx1"/>
                        </a:solidFill>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000" b="1" dirty="0">
                          <a:solidFill>
                            <a:schemeClr val="tx1"/>
                          </a:solidFill>
                        </a:rPr>
                        <a:t>Findings</a:t>
                      </a:r>
                      <a:endParaRPr lang="en-US" sz="1000" dirty="0">
                        <a:solidFill>
                          <a:schemeClr val="tx1"/>
                        </a:solidFill>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230459">
                <a:tc>
                  <a:txBody>
                    <a:bodyPr/>
                    <a:lstStyle/>
                    <a:p>
                      <a:pPr marL="0" indent="0" algn="l">
                        <a:buNone/>
                      </a:pPr>
                      <a:r>
                        <a:rPr lang="en-US" sz="1000" dirty="0"/>
                        <a:t>Web-Controlled Centralized Digital </a:t>
                      </a:r>
                      <a:br>
                        <a:rPr lang="en-US" sz="1000" dirty="0"/>
                      </a:br>
                      <a:r>
                        <a:rPr lang="en-US" sz="1000" dirty="0"/>
                        <a:t>Notice Board for smart </a:t>
                      </a:r>
                      <a:r>
                        <a:rPr lang="en-US" sz="1000" dirty="0" err="1"/>
                        <a:t>intiutions</a:t>
                      </a:r>
                      <a:r>
                        <a:rPr lang="en-US" sz="1000" dirty="0"/>
                        <a:t> (2025)</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err="1"/>
                        <a:t>Ms.Madhuri</a:t>
                      </a:r>
                      <a:r>
                        <a:rPr lang="en-US" sz="1000" dirty="0"/>
                        <a:t> </a:t>
                      </a:r>
                      <a:r>
                        <a:rPr lang="en-US" sz="1000" dirty="0" err="1"/>
                        <a:t>Ninawe</a:t>
                      </a:r>
                      <a:endParaRPr lang="en-US" sz="1000" dirty="0"/>
                    </a:p>
                    <a:p>
                      <a:pPr marL="0" indent="0" algn="l">
                        <a:buNone/>
                      </a:pPr>
                      <a:r>
                        <a:rPr lang="en-US" sz="1000" dirty="0" err="1"/>
                        <a:t>Ms.pooja</a:t>
                      </a:r>
                      <a:r>
                        <a:rPr lang="en-US" sz="1000" dirty="0"/>
                        <a:t> </a:t>
                      </a:r>
                      <a:r>
                        <a:rPr lang="en-US" sz="1000" dirty="0" err="1"/>
                        <a:t>sarangpure</a:t>
                      </a:r>
                      <a:r>
                        <a:rPr lang="en-US" sz="1000" dirty="0"/>
                        <a:t> </a:t>
                      </a:r>
                    </a:p>
                    <a:p>
                      <a:pPr marL="0" indent="0" algn="l">
                        <a:buNone/>
                      </a:pP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l">
                        <a:buNone/>
                      </a:pPr>
                      <a:r>
                        <a:rPr lang="en-US" sz="1000" dirty="0"/>
                        <a:t>NLP</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t>Real time update of event management</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1E293B"/>
                          </a:solidFill>
                        </a:rPr>
                        <a:t>Reduced manual work</a:t>
                      </a:r>
                      <a:endParaRPr lang="en-US" sz="1000" dirty="0"/>
                    </a:p>
                    <a:p>
                      <a:pPr marL="0" indent="0" algn="l">
                        <a:buNone/>
                      </a:pP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7215275"/>
                  </a:ext>
                </a:extLst>
              </a:tr>
              <a:tr h="598730">
                <a:tc>
                  <a:txBody>
                    <a:bodyPr/>
                    <a:lstStyle/>
                    <a:p>
                      <a:pPr marL="0" indent="0" algn="l">
                        <a:buNone/>
                      </a:pPr>
                      <a:r>
                        <a:rPr lang="en-US" sz="1000" dirty="0">
                          <a:solidFill>
                            <a:srgbClr val="1E293B"/>
                          </a:solidFill>
                        </a:rPr>
                        <a:t>Smart Digital Notice Board (2023)</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S. Kumar, IEEE</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MQTT</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Remote updates, cloud, mobile notifs</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Instant delivery, reduced paper</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98730">
                <a:tc>
                  <a:txBody>
                    <a:bodyPr/>
                    <a:lstStyle/>
                    <a:p>
                      <a:pPr marL="0" indent="0" algn="l">
                        <a:buNone/>
                      </a:pPr>
                      <a:r>
                        <a:rPr lang="en-US" sz="1000" dirty="0">
                          <a:solidFill>
                            <a:srgbClr val="1E293B"/>
                          </a:solidFill>
                        </a:rPr>
                        <a:t>Web-Based College Notice Board (2022)</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A. Sharma, IJCA</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RBAC</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Role-based login, dept notices</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Secure access, higher satisfaction</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98730">
                <a:tc>
                  <a:txBody>
                    <a:bodyPr/>
                    <a:lstStyle/>
                    <a:p>
                      <a:pPr marL="0" indent="0" algn="l">
                        <a:buNone/>
                      </a:pPr>
                      <a:r>
                        <a:rPr lang="en-US" sz="1000" dirty="0">
                          <a:solidFill>
                            <a:srgbClr val="1E293B"/>
                          </a:solidFill>
                        </a:rPr>
                        <a:t>Digital Notice Board Raspberry Pi (2021)</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M. Reddy, IEEE</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Display Control</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LED display, wireless updates</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Low-cost, low power</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98730">
                <a:tc>
                  <a:txBody>
                    <a:bodyPr/>
                    <a:lstStyle/>
                    <a:p>
                      <a:pPr marL="0" indent="0" algn="l">
                        <a:buNone/>
                      </a:pPr>
                      <a:r>
                        <a:rPr lang="en-US" sz="1000" dirty="0">
                          <a:solidFill>
                            <a:srgbClr val="1E293B"/>
                          </a:solidFill>
                        </a:rPr>
                        <a:t>AI Smart Notice Board (2024)</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J. Lee, Springer</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NLP</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Summarization, translation</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Better readability &amp; access</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98730">
                <a:tc>
                  <a:txBody>
                    <a:bodyPr/>
                    <a:lstStyle/>
                    <a:p>
                      <a:pPr marL="0" indent="0" algn="l">
                        <a:buNone/>
                      </a:pPr>
                      <a:r>
                        <a:rPr lang="en-US" sz="1000" dirty="0">
                          <a:solidFill>
                            <a:srgbClr val="1E293B"/>
                          </a:solidFill>
                        </a:rPr>
                        <a:t>Cloud Notice Board (2023)</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P. Patel, Elsevier</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Cloud Sync</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Cloud DB, secure auth, backup</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High availability, scalability</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98730">
                <a:tc>
                  <a:txBody>
                    <a:bodyPr/>
                    <a:lstStyle/>
                    <a:p>
                      <a:pPr marL="0" indent="0" algn="l">
                        <a:buNone/>
                      </a:pPr>
                      <a:r>
                        <a:rPr lang="en-US" sz="1000" dirty="0">
                          <a:solidFill>
                            <a:srgbClr val="1E293B"/>
                          </a:solidFill>
                        </a:rPr>
                        <a:t>Android Notice Board (2022)</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R. Gupta, IJERT</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Firebase</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Push notifications, mobile</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000" dirty="0">
                          <a:solidFill>
                            <a:srgbClr val="1E293B"/>
                          </a:solidFill>
                        </a:rPr>
                        <a:t>Higher engagement</a:t>
                      </a:r>
                      <a:endParaRPr lang="en-US" sz="1000" dirty="0">
                        <a:latin typeface="Calibri" charset="0"/>
                        <a:ea typeface="Calibri" charset="0"/>
                        <a:cs typeface="Calibri"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5738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echnologies Used">
            <a:extLst>
              <a:ext uri="{FF2B5EF4-FFF2-40B4-BE49-F238E27FC236}">
                <a16:creationId xmlns:a16="http://schemas.microsoft.com/office/drawing/2014/main" id="{90235F12-0A8C-4A86-9214-70E2262DE3AE}"/>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Technologies Used</a:t>
            </a:r>
          </a:p>
        </p:txBody>
      </p:sp>
      <p:sp>
        <p:nvSpPr>
          <p:cNvPr id="2" name="Rectangle 1">
            <a:extLst>
              <a:ext uri="{FF2B5EF4-FFF2-40B4-BE49-F238E27FC236}">
                <a16:creationId xmlns:a16="http://schemas.microsoft.com/office/drawing/2014/main" id="{D1D5C596-A6B4-4DD1-8716-EC4002D6FE86}"/>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rPr dirty="0"/>
              <a:t>Frontend: HTML, CSS and JavaScript with a responsive PWA interface.</a:t>
            </a:r>
          </a:p>
          <a:p>
            <a:pPr marL="279400" indent="-152400" algn="l">
              <a:spcAft>
                <a:spcPts val="2200"/>
              </a:spcAft>
              <a:buChar char="•"/>
              <a:defRPr sz="2250" b="0">
                <a:solidFill>
                  <a:srgbClr val="000000"/>
                </a:solidFill>
                <a:latin typeface="Arial"/>
                <a:ea typeface="Arial"/>
                <a:cs typeface="Arial"/>
              </a:defRPr>
            </a:pPr>
            <a:r>
              <a:rPr dirty="0"/>
              <a:t>Backend: Python, Django and Django REST Framework.</a:t>
            </a:r>
          </a:p>
          <a:p>
            <a:pPr marL="279400" indent="-152400" algn="l">
              <a:spcAft>
                <a:spcPts val="2200"/>
              </a:spcAft>
              <a:buChar char="•"/>
              <a:defRPr sz="2250" b="0">
                <a:solidFill>
                  <a:srgbClr val="000000"/>
                </a:solidFill>
                <a:latin typeface="Arial"/>
                <a:ea typeface="Arial"/>
                <a:cs typeface="Arial"/>
              </a:defRPr>
            </a:pPr>
            <a:r>
              <a:rPr dirty="0"/>
              <a:t>Data storage: SQLite for the local demo. PostgreSQL is configured for Docker.</a:t>
            </a:r>
          </a:p>
          <a:p>
            <a:pPr marL="279400" indent="-152400" algn="l">
              <a:spcAft>
                <a:spcPts val="2200"/>
              </a:spcAft>
              <a:buChar char="•"/>
              <a:defRPr sz="2250" b="0">
                <a:solidFill>
                  <a:srgbClr val="000000"/>
                </a:solidFill>
                <a:latin typeface="Arial"/>
                <a:ea typeface="Arial"/>
                <a:cs typeface="Arial"/>
              </a:defRPr>
            </a:pPr>
            <a:r>
              <a:rPr dirty="0"/>
              <a:t>Language tools: local rules, NLLB translation, CTranslate2 and </a:t>
            </a:r>
            <a:r>
              <a:rPr dirty="0" err="1"/>
              <a:t>SentencePiece</a:t>
            </a:r>
            <a:r>
              <a:rPr dirty="0"/>
              <a:t>.</a:t>
            </a:r>
          </a:p>
          <a:p>
            <a:pPr marL="279400" indent="-152400" algn="l">
              <a:spcAft>
                <a:spcPts val="2200"/>
              </a:spcAft>
              <a:buChar char="•"/>
              <a:defRPr sz="2250" b="0">
                <a:solidFill>
                  <a:srgbClr val="000000"/>
                </a:solidFill>
                <a:latin typeface="Arial"/>
                <a:ea typeface="Arial"/>
                <a:cs typeface="Arial"/>
              </a:defRPr>
            </a:pPr>
            <a:r>
              <a:rPr dirty="0"/>
              <a:t>Background services: immediate tasks locally. Celery and Redis are configured for Docker.</a:t>
            </a:r>
          </a:p>
        </p:txBody>
      </p:sp>
      <p:sp>
        <p:nvSpPr>
          <p:cNvPr id="3" name="10">
            <a:extLst>
              <a:ext uri="{FF2B5EF4-FFF2-40B4-BE49-F238E27FC236}">
                <a16:creationId xmlns:a16="http://schemas.microsoft.com/office/drawing/2014/main" id="{D2303EFE-2B7A-4A25-84F2-2F202751AEF8}"/>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10</a:t>
            </a:r>
          </a:p>
        </p:txBody>
      </p:sp>
    </p:spTree>
    <p:extLst>
      <p:ext uri="{BB962C8B-B14F-4D97-AF65-F5344CB8AC3E}">
        <p14:creationId xmlns:p14="http://schemas.microsoft.com/office/powerpoint/2010/main" val="455400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oftware &amp; Hardware Requirements">
            <a:extLst>
              <a:ext uri="{FF2B5EF4-FFF2-40B4-BE49-F238E27FC236}">
                <a16:creationId xmlns:a16="http://schemas.microsoft.com/office/drawing/2014/main" id="{78F46FAD-F5A3-4E1A-9766-E118D0572CF8}"/>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Software &amp; Hardware Requirements</a:t>
            </a:r>
          </a:p>
        </p:txBody>
      </p:sp>
      <p:sp>
        <p:nvSpPr>
          <p:cNvPr id="2" name="Rectangle 1">
            <a:extLst>
              <a:ext uri="{FF2B5EF4-FFF2-40B4-BE49-F238E27FC236}">
                <a16:creationId xmlns:a16="http://schemas.microsoft.com/office/drawing/2014/main" id="{BEC64F39-D04A-4B7C-B9F5-EAB3ECD249BC}"/>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Software: Python 3.12, project dependencies and a current web browser.</a:t>
            </a:r>
          </a:p>
          <a:p>
            <a:pPr marL="279400" indent="-152400" algn="l">
              <a:spcAft>
                <a:spcPts val="2200"/>
              </a:spcAft>
              <a:buChar char="•"/>
              <a:defRPr sz="2250" b="0">
                <a:solidFill>
                  <a:srgbClr val="000000"/>
                </a:solidFill>
                <a:latin typeface="Arial"/>
                <a:ea typeface="Arial"/>
                <a:cs typeface="Arial"/>
              </a:defRPr>
            </a:pPr>
            <a:r>
              <a:t>Optional stack: Docker, PostgreSQL and Redis for distributed services.</a:t>
            </a:r>
          </a:p>
          <a:p>
            <a:pPr marL="279400" indent="-152400" algn="l">
              <a:spcAft>
                <a:spcPts val="2200"/>
              </a:spcAft>
              <a:buChar char="•"/>
              <a:defRPr sz="2250" b="0">
                <a:solidFill>
                  <a:srgbClr val="000000"/>
                </a:solidFill>
                <a:latin typeface="Arial"/>
                <a:ea typeface="Arial"/>
                <a:cs typeface="Arial"/>
              </a:defRPr>
            </a:pPr>
            <a:r>
              <a:t>Translation requires the local model, approximately 630 MB, plus its runtime.</a:t>
            </a:r>
          </a:p>
          <a:p>
            <a:pPr marL="279400" indent="-152400" algn="l">
              <a:spcAft>
                <a:spcPts val="2200"/>
              </a:spcAft>
              <a:buChar char="•"/>
              <a:defRPr sz="2250" b="0">
                <a:solidFill>
                  <a:srgbClr val="000000"/>
                </a:solidFill>
                <a:latin typeface="Arial"/>
                <a:ea typeface="Arial"/>
                <a:cs typeface="Arial"/>
              </a:defRPr>
            </a:pPr>
            <a:r>
              <a:t>Suggested demonstration hardware: 64-bit CPU, 8 GB RAM and free storage for the environment and model.</a:t>
            </a:r>
          </a:p>
          <a:p>
            <a:pPr marL="279400" indent="-152400" algn="l">
              <a:spcAft>
                <a:spcPts val="2200"/>
              </a:spcAft>
              <a:buChar char="•"/>
              <a:defRPr sz="2250" b="0">
                <a:solidFill>
                  <a:srgbClr val="000000"/>
                </a:solidFill>
                <a:latin typeface="Arial"/>
                <a:ea typeface="Arial"/>
                <a:cs typeface="Arial"/>
              </a:defRPr>
            </a:pPr>
            <a:r>
              <a:t>Internet is needed for initial downloads. Local translation works after setup.</a:t>
            </a:r>
          </a:p>
        </p:txBody>
      </p:sp>
      <p:sp>
        <p:nvSpPr>
          <p:cNvPr id="3" name="11">
            <a:extLst>
              <a:ext uri="{FF2B5EF4-FFF2-40B4-BE49-F238E27FC236}">
                <a16:creationId xmlns:a16="http://schemas.microsoft.com/office/drawing/2014/main" id="{FA6EB7B0-E0FB-45B8-AA77-298D3129772E}"/>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11</a:t>
            </a:r>
          </a:p>
        </p:txBody>
      </p:sp>
    </p:spTree>
    <p:extLst>
      <p:ext uri="{BB962C8B-B14F-4D97-AF65-F5344CB8AC3E}">
        <p14:creationId xmlns:p14="http://schemas.microsoft.com/office/powerpoint/2010/main" val="1913061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Design Diagrams: Context Diagram">
            <a:extLst>
              <a:ext uri="{FF2B5EF4-FFF2-40B4-BE49-F238E27FC236}">
                <a16:creationId xmlns:a16="http://schemas.microsoft.com/office/drawing/2014/main" id="{1AA8E91A-8DDA-4131-B035-1E55475724D1}"/>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dirty="0">
                <a:solidFill>
                  <a:srgbClr val="000000"/>
                </a:solidFill>
                <a:latin typeface="Arial"/>
                <a:ea typeface="Arial"/>
                <a:cs typeface="Arial"/>
              </a:rPr>
              <a:t>Design Diagrams: </a:t>
            </a:r>
            <a:r>
              <a:rPr lang="en-US" sz="3000" b="1" dirty="0">
                <a:solidFill>
                  <a:srgbClr val="000000"/>
                </a:solidFill>
                <a:latin typeface="Arial"/>
                <a:ea typeface="Arial"/>
                <a:cs typeface="Arial"/>
              </a:rPr>
              <a:t>DFD LEVEL 0</a:t>
            </a:r>
            <a:endParaRPr sz="3000" b="1" dirty="0">
              <a:solidFill>
                <a:srgbClr val="000000"/>
              </a:solidFill>
              <a:latin typeface="Arial"/>
              <a:ea typeface="Arial"/>
              <a:cs typeface="Arial"/>
            </a:endParaRPr>
          </a:p>
        </p:txBody>
      </p:sp>
      <p:sp>
        <p:nvSpPr>
          <p:cNvPr id="19" name="13">
            <a:extLst>
              <a:ext uri="{FF2B5EF4-FFF2-40B4-BE49-F238E27FC236}">
                <a16:creationId xmlns:a16="http://schemas.microsoft.com/office/drawing/2014/main" id="{8A692047-8CA1-49E3-A513-3EFE0F6106CE}"/>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dirty="0">
                <a:solidFill>
                  <a:srgbClr val="000000"/>
                </a:solidFill>
                <a:latin typeface="Arial"/>
                <a:ea typeface="Arial"/>
                <a:cs typeface="Arial"/>
              </a:rPr>
              <a:t>1</a:t>
            </a:r>
            <a:r>
              <a:rPr lang="en-US" sz="1200" b="0" dirty="0">
                <a:solidFill>
                  <a:srgbClr val="000000"/>
                </a:solidFill>
                <a:latin typeface="Arial"/>
                <a:ea typeface="Arial"/>
                <a:cs typeface="Arial"/>
              </a:rPr>
              <a:t>2</a:t>
            </a:r>
            <a:endParaRPr sz="1200" b="0" dirty="0">
              <a:solidFill>
                <a:srgbClr val="000000"/>
              </a:solidFill>
              <a:latin typeface="Arial"/>
              <a:ea typeface="Arial"/>
              <a:cs typeface="Arial"/>
            </a:endParaRPr>
          </a:p>
        </p:txBody>
      </p:sp>
      <p:pic>
        <p:nvPicPr>
          <p:cNvPr id="22" name="Picture 21">
            <a:extLst>
              <a:ext uri="{FF2B5EF4-FFF2-40B4-BE49-F238E27FC236}">
                <a16:creationId xmlns:a16="http://schemas.microsoft.com/office/drawing/2014/main" id="{0369570F-019B-7E2B-F39A-E8CA53530DFD}"/>
              </a:ext>
            </a:extLst>
          </p:cNvPr>
          <p:cNvPicPr>
            <a:picLocks noChangeAspect="1"/>
          </p:cNvPicPr>
          <p:nvPr/>
        </p:nvPicPr>
        <p:blipFill>
          <a:blip r:embed="rId3"/>
          <a:stretch>
            <a:fillRect/>
          </a:stretch>
        </p:blipFill>
        <p:spPr>
          <a:xfrm>
            <a:off x="1883640" y="2302632"/>
            <a:ext cx="7559480" cy="2086819"/>
          </a:xfrm>
          <a:prstGeom prst="rect">
            <a:avLst/>
          </a:prstGeom>
        </p:spPr>
      </p:pic>
    </p:spTree>
    <p:extLst>
      <p:ext uri="{BB962C8B-B14F-4D97-AF65-F5344CB8AC3E}">
        <p14:creationId xmlns:p14="http://schemas.microsoft.com/office/powerpoint/2010/main" val="280519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Design Diagrams: Admin DFD">
            <a:extLst>
              <a:ext uri="{FF2B5EF4-FFF2-40B4-BE49-F238E27FC236}">
                <a16:creationId xmlns:a16="http://schemas.microsoft.com/office/drawing/2014/main" id="{5CAFE5FA-FC1D-40CC-85BD-AEF0EEA04386}"/>
              </a:ext>
            </a:extLst>
          </p:cNvPr>
          <p:cNvSpPr>
            <a:spLocks noGrp="1"/>
          </p:cNvSpPr>
          <p:nvPr/>
        </p:nvSpPr>
        <p:spPr>
          <a:xfrm>
            <a:off x="609600" y="180975"/>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dirty="0">
                <a:solidFill>
                  <a:srgbClr val="000000"/>
                </a:solidFill>
                <a:latin typeface="Arial"/>
                <a:ea typeface="Arial"/>
                <a:cs typeface="Arial"/>
              </a:rPr>
              <a:t>Design Diagrams: Admin DFD</a:t>
            </a:r>
            <a:r>
              <a:rPr lang="en-US" sz="3000" b="1" dirty="0">
                <a:solidFill>
                  <a:srgbClr val="000000"/>
                </a:solidFill>
                <a:latin typeface="Arial"/>
                <a:ea typeface="Arial"/>
                <a:cs typeface="Arial"/>
              </a:rPr>
              <a:t> LEVEL 1</a:t>
            </a:r>
            <a:endParaRPr sz="3000" b="1" dirty="0">
              <a:solidFill>
                <a:srgbClr val="000000"/>
              </a:solidFill>
              <a:latin typeface="Arial"/>
              <a:ea typeface="Arial"/>
              <a:cs typeface="Arial"/>
            </a:endParaRPr>
          </a:p>
        </p:txBody>
      </p:sp>
      <p:sp>
        <p:nvSpPr>
          <p:cNvPr id="21" name="14">
            <a:extLst>
              <a:ext uri="{FF2B5EF4-FFF2-40B4-BE49-F238E27FC236}">
                <a16:creationId xmlns:a16="http://schemas.microsoft.com/office/drawing/2014/main" id="{CC60329A-B1F9-485E-90B3-FE7544BCD9FA}"/>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dirty="0">
                <a:solidFill>
                  <a:srgbClr val="000000"/>
                </a:solidFill>
                <a:latin typeface="Arial"/>
                <a:ea typeface="Arial"/>
                <a:cs typeface="Arial"/>
              </a:rPr>
              <a:t>1</a:t>
            </a:r>
            <a:r>
              <a:rPr lang="en-US" sz="1200" b="0" dirty="0">
                <a:solidFill>
                  <a:srgbClr val="000000"/>
                </a:solidFill>
                <a:latin typeface="Arial"/>
                <a:ea typeface="Arial"/>
                <a:cs typeface="Arial"/>
              </a:rPr>
              <a:t>3</a:t>
            </a:r>
            <a:endParaRPr sz="1200" b="0" dirty="0">
              <a:solidFill>
                <a:srgbClr val="000000"/>
              </a:solidFill>
              <a:latin typeface="Arial"/>
              <a:ea typeface="Arial"/>
              <a:cs typeface="Arial"/>
            </a:endParaRPr>
          </a:p>
        </p:txBody>
      </p:sp>
      <p:sp>
        <p:nvSpPr>
          <p:cNvPr id="23" name="TextBox 22">
            <a:extLst>
              <a:ext uri="{FF2B5EF4-FFF2-40B4-BE49-F238E27FC236}">
                <a16:creationId xmlns:a16="http://schemas.microsoft.com/office/drawing/2014/main" id="{93843EED-3619-D8AF-8094-3DB373A30AAC}"/>
              </a:ext>
            </a:extLst>
          </p:cNvPr>
          <p:cNvSpPr txBox="1"/>
          <p:nvPr/>
        </p:nvSpPr>
        <p:spPr>
          <a:xfrm>
            <a:off x="1179871" y="1317523"/>
            <a:ext cx="184731" cy="369332"/>
          </a:xfrm>
          <a:prstGeom prst="rect">
            <a:avLst/>
          </a:prstGeom>
          <a:noFill/>
        </p:spPr>
        <p:txBody>
          <a:bodyPr wrap="none" rtlCol="0">
            <a:spAutoFit/>
          </a:bodyPr>
          <a:lstStyle/>
          <a:p>
            <a:endParaRPr lang="en-IN" dirty="0"/>
          </a:p>
        </p:txBody>
      </p:sp>
      <p:pic>
        <p:nvPicPr>
          <p:cNvPr id="27" name="Image 0" descr="/home/workdir/attachments/admin lvl1.drawio.png">
            <a:extLst>
              <a:ext uri="{FF2B5EF4-FFF2-40B4-BE49-F238E27FC236}">
                <a16:creationId xmlns:a16="http://schemas.microsoft.com/office/drawing/2014/main" id="{C9498962-9E82-2856-7094-AB6D0CE33A53}"/>
              </a:ext>
            </a:extLst>
          </p:cNvPr>
          <p:cNvPicPr>
            <a:picLocks noChangeAspect="1"/>
          </p:cNvPicPr>
          <p:nvPr/>
        </p:nvPicPr>
        <p:blipFill>
          <a:blip r:embed="rId3"/>
          <a:srcRect/>
          <a:stretch/>
        </p:blipFill>
        <p:spPr>
          <a:xfrm>
            <a:off x="727587" y="1115524"/>
            <a:ext cx="10156722" cy="4626951"/>
          </a:xfrm>
          <a:prstGeom prst="rect">
            <a:avLst/>
          </a:prstGeom>
        </p:spPr>
      </p:pic>
    </p:spTree>
    <p:extLst>
      <p:ext uri="{BB962C8B-B14F-4D97-AF65-F5344CB8AC3E}">
        <p14:creationId xmlns:p14="http://schemas.microsoft.com/office/powerpoint/2010/main" val="783135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Design Diagrams: Student DFD">
            <a:extLst>
              <a:ext uri="{FF2B5EF4-FFF2-40B4-BE49-F238E27FC236}">
                <a16:creationId xmlns:a16="http://schemas.microsoft.com/office/drawing/2014/main" id="{9DC51233-B3E4-427B-B5E0-7C29168DF9A7}"/>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dirty="0">
                <a:solidFill>
                  <a:srgbClr val="000000"/>
                </a:solidFill>
                <a:latin typeface="Arial"/>
                <a:ea typeface="Arial"/>
                <a:cs typeface="Arial"/>
              </a:rPr>
              <a:t>Design Diagrams: Student DFD</a:t>
            </a:r>
            <a:r>
              <a:rPr lang="en-US" sz="3000" b="1" dirty="0">
                <a:solidFill>
                  <a:srgbClr val="000000"/>
                </a:solidFill>
                <a:latin typeface="Arial"/>
                <a:ea typeface="Arial"/>
                <a:cs typeface="Arial"/>
              </a:rPr>
              <a:t> LEVEL 1</a:t>
            </a:r>
            <a:endParaRPr sz="3000" b="1" dirty="0">
              <a:solidFill>
                <a:srgbClr val="000000"/>
              </a:solidFill>
              <a:latin typeface="Arial"/>
              <a:ea typeface="Arial"/>
              <a:cs typeface="Arial"/>
            </a:endParaRPr>
          </a:p>
        </p:txBody>
      </p:sp>
      <p:sp>
        <p:nvSpPr>
          <p:cNvPr id="21" name="15">
            <a:extLst>
              <a:ext uri="{FF2B5EF4-FFF2-40B4-BE49-F238E27FC236}">
                <a16:creationId xmlns:a16="http://schemas.microsoft.com/office/drawing/2014/main" id="{28895DCD-730B-483D-A540-61C578B66A56}"/>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dirty="0">
                <a:solidFill>
                  <a:srgbClr val="000000"/>
                </a:solidFill>
                <a:latin typeface="Arial"/>
                <a:ea typeface="Arial"/>
                <a:cs typeface="Arial"/>
              </a:rPr>
              <a:t>1</a:t>
            </a:r>
            <a:r>
              <a:rPr lang="en-US" sz="1200" b="0" dirty="0">
                <a:solidFill>
                  <a:srgbClr val="000000"/>
                </a:solidFill>
                <a:latin typeface="Arial"/>
                <a:ea typeface="Arial"/>
                <a:cs typeface="Arial"/>
              </a:rPr>
              <a:t>4</a:t>
            </a:r>
            <a:endParaRPr sz="1200" b="0" dirty="0">
              <a:solidFill>
                <a:srgbClr val="000000"/>
              </a:solidFill>
              <a:latin typeface="Arial"/>
              <a:ea typeface="Arial"/>
              <a:cs typeface="Arial"/>
            </a:endParaRPr>
          </a:p>
        </p:txBody>
      </p:sp>
      <p:pic>
        <p:nvPicPr>
          <p:cNvPr id="24" name="Picture 23">
            <a:extLst>
              <a:ext uri="{FF2B5EF4-FFF2-40B4-BE49-F238E27FC236}">
                <a16:creationId xmlns:a16="http://schemas.microsoft.com/office/drawing/2014/main" id="{32C61363-C51D-B99A-6BBD-16140CA35512}"/>
              </a:ext>
            </a:extLst>
          </p:cNvPr>
          <p:cNvPicPr>
            <a:picLocks noChangeAspect="1"/>
          </p:cNvPicPr>
          <p:nvPr/>
        </p:nvPicPr>
        <p:blipFill>
          <a:blip r:embed="rId3"/>
          <a:stretch>
            <a:fillRect/>
          </a:stretch>
        </p:blipFill>
        <p:spPr>
          <a:xfrm>
            <a:off x="1299446" y="1285569"/>
            <a:ext cx="8501039" cy="3787876"/>
          </a:xfrm>
          <a:prstGeom prst="rect">
            <a:avLst/>
          </a:prstGeom>
        </p:spPr>
      </p:pic>
    </p:spTree>
    <p:extLst>
      <p:ext uri="{BB962C8B-B14F-4D97-AF65-F5344CB8AC3E}">
        <p14:creationId xmlns:p14="http://schemas.microsoft.com/office/powerpoint/2010/main" val="795806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Design Diagrams: Use Case Diagram">
            <a:extLst>
              <a:ext uri="{FF2B5EF4-FFF2-40B4-BE49-F238E27FC236}">
                <a16:creationId xmlns:a16="http://schemas.microsoft.com/office/drawing/2014/main" id="{B40DC00E-CB31-4268-847E-0A7CC9CAAACE}"/>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Design Diagrams: Use Case Diagram</a:t>
            </a:r>
          </a:p>
        </p:txBody>
      </p:sp>
      <p:pic>
        <p:nvPicPr>
          <p:cNvPr id="26" name="Picture 25">
            <a:extLst>
              <a:ext uri="{FF2B5EF4-FFF2-40B4-BE49-F238E27FC236}">
                <a16:creationId xmlns:a16="http://schemas.microsoft.com/office/drawing/2014/main" id="{37AF7049-DC2D-212F-6164-B218DD0BA002}"/>
              </a:ext>
            </a:extLst>
          </p:cNvPr>
          <p:cNvPicPr>
            <a:picLocks noChangeAspect="1"/>
          </p:cNvPicPr>
          <p:nvPr/>
        </p:nvPicPr>
        <p:blipFill>
          <a:blip r:embed="rId3"/>
          <a:stretch>
            <a:fillRect/>
          </a:stretch>
        </p:blipFill>
        <p:spPr>
          <a:xfrm>
            <a:off x="990600" y="1170531"/>
            <a:ext cx="9136625" cy="5082540"/>
          </a:xfrm>
          <a:prstGeom prst="rect">
            <a:avLst/>
          </a:prstGeom>
        </p:spPr>
      </p:pic>
      <p:sp>
        <p:nvSpPr>
          <p:cNvPr id="2" name="TextBox 1">
            <a:extLst>
              <a:ext uri="{FF2B5EF4-FFF2-40B4-BE49-F238E27FC236}">
                <a16:creationId xmlns:a16="http://schemas.microsoft.com/office/drawing/2014/main" id="{65C78D15-FDAD-82A7-6BA1-61E2FE04BEE4}"/>
              </a:ext>
            </a:extLst>
          </p:cNvPr>
          <p:cNvSpPr txBox="1"/>
          <p:nvPr/>
        </p:nvSpPr>
        <p:spPr>
          <a:xfrm>
            <a:off x="11201400" y="6262903"/>
            <a:ext cx="629265" cy="369332"/>
          </a:xfrm>
          <a:prstGeom prst="rect">
            <a:avLst/>
          </a:prstGeom>
          <a:noFill/>
        </p:spPr>
        <p:txBody>
          <a:bodyPr wrap="square" rtlCol="0">
            <a:spAutoFit/>
          </a:bodyPr>
          <a:lstStyle/>
          <a:p>
            <a:r>
              <a:rPr lang="en-US" dirty="0"/>
              <a:t>15</a:t>
            </a:r>
            <a:endParaRPr lang="en-IN" dirty="0"/>
          </a:p>
        </p:txBody>
      </p:sp>
    </p:spTree>
    <p:extLst>
      <p:ext uri="{BB962C8B-B14F-4D97-AF65-F5344CB8AC3E}">
        <p14:creationId xmlns:p14="http://schemas.microsoft.com/office/powerpoint/2010/main" val="522335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Design Diagrams: ER Diagram">
            <a:extLst>
              <a:ext uri="{FF2B5EF4-FFF2-40B4-BE49-F238E27FC236}">
                <a16:creationId xmlns:a16="http://schemas.microsoft.com/office/drawing/2014/main" id="{11DB786C-2478-40BB-9F21-8441E5FBEE1A}"/>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dirty="0">
                <a:solidFill>
                  <a:srgbClr val="000000"/>
                </a:solidFill>
                <a:latin typeface="Arial"/>
                <a:ea typeface="Arial"/>
                <a:cs typeface="Arial"/>
              </a:rPr>
              <a:t>Design Diagrams: </a:t>
            </a:r>
            <a:r>
              <a:rPr lang="en-US" sz="3000" b="1" dirty="0">
                <a:solidFill>
                  <a:srgbClr val="000000"/>
                </a:solidFill>
                <a:latin typeface="Arial"/>
                <a:ea typeface="Arial"/>
                <a:cs typeface="Arial"/>
              </a:rPr>
              <a:t>CLASS</a:t>
            </a:r>
            <a:r>
              <a:rPr sz="3000" b="1" dirty="0">
                <a:solidFill>
                  <a:srgbClr val="000000"/>
                </a:solidFill>
                <a:latin typeface="Arial"/>
                <a:ea typeface="Arial"/>
                <a:cs typeface="Arial"/>
              </a:rPr>
              <a:t> Diagram</a:t>
            </a:r>
          </a:p>
        </p:txBody>
      </p:sp>
      <p:sp>
        <p:nvSpPr>
          <p:cNvPr id="21" name="18">
            <a:extLst>
              <a:ext uri="{FF2B5EF4-FFF2-40B4-BE49-F238E27FC236}">
                <a16:creationId xmlns:a16="http://schemas.microsoft.com/office/drawing/2014/main" id="{47423E0D-49D3-4343-93F1-8D2F67DF4DEA}"/>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dirty="0">
                <a:solidFill>
                  <a:srgbClr val="000000"/>
                </a:solidFill>
                <a:latin typeface="Arial"/>
                <a:ea typeface="Arial"/>
                <a:cs typeface="Arial"/>
              </a:rPr>
              <a:t>1</a:t>
            </a:r>
            <a:r>
              <a:rPr lang="en-US" sz="1200" b="0" dirty="0">
                <a:solidFill>
                  <a:srgbClr val="000000"/>
                </a:solidFill>
                <a:latin typeface="Arial"/>
                <a:ea typeface="Arial"/>
                <a:cs typeface="Arial"/>
              </a:rPr>
              <a:t>6</a:t>
            </a:r>
            <a:endParaRPr sz="1200" b="0" dirty="0">
              <a:solidFill>
                <a:srgbClr val="000000"/>
              </a:solidFill>
              <a:latin typeface="Arial"/>
              <a:ea typeface="Arial"/>
              <a:cs typeface="Arial"/>
            </a:endParaRPr>
          </a:p>
        </p:txBody>
      </p:sp>
      <p:pic>
        <p:nvPicPr>
          <p:cNvPr id="28" name="Picture 27">
            <a:extLst>
              <a:ext uri="{FF2B5EF4-FFF2-40B4-BE49-F238E27FC236}">
                <a16:creationId xmlns:a16="http://schemas.microsoft.com/office/drawing/2014/main" id="{2CB73262-4831-4BB7-34B5-FABC7F0D89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9185" y="1015181"/>
            <a:ext cx="8495421" cy="5406177"/>
          </a:xfrm>
          <a:prstGeom prst="rect">
            <a:avLst/>
          </a:prstGeom>
        </p:spPr>
      </p:pic>
    </p:spTree>
    <p:extLst>
      <p:ext uri="{BB962C8B-B14F-4D97-AF65-F5344CB8AC3E}">
        <p14:creationId xmlns:p14="http://schemas.microsoft.com/office/powerpoint/2010/main" val="363684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Design Diagrams: Sequence Diagram">
            <a:extLst>
              <a:ext uri="{FF2B5EF4-FFF2-40B4-BE49-F238E27FC236}">
                <a16:creationId xmlns:a16="http://schemas.microsoft.com/office/drawing/2014/main" id="{B6C6B553-101C-44DA-B4E2-88047C389887}"/>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Design Diagrams: Sequence Diagram</a:t>
            </a:r>
          </a:p>
        </p:txBody>
      </p:sp>
      <p:sp>
        <p:nvSpPr>
          <p:cNvPr id="2" name="Admin">
            <a:extLst>
              <a:ext uri="{FF2B5EF4-FFF2-40B4-BE49-F238E27FC236}">
                <a16:creationId xmlns:a16="http://schemas.microsoft.com/office/drawing/2014/main" id="{1C2B0C8F-9C86-476A-80C2-FC9A1E5F93CF}"/>
              </a:ext>
            </a:extLst>
          </p:cNvPr>
          <p:cNvSpPr>
            <a:spLocks noGrp="1"/>
          </p:cNvSpPr>
          <p:nvPr/>
        </p:nvSpPr>
        <p:spPr>
          <a:xfrm>
            <a:off x="238125" y="1304925"/>
            <a:ext cx="1619250" cy="428625"/>
          </a:xfrm>
          <a:prstGeom prst="rect">
            <a:avLst/>
          </a:prstGeom>
          <a:noFill/>
          <a:ln w="0">
            <a:noFill/>
          </a:ln>
        </p:spPr>
        <p:txBody>
          <a:bodyPr lIns="0" tIns="0" rIns="0" bIns="0" anchor="t">
            <a:noAutofit/>
          </a:bodyPr>
          <a:lstStyle>
            <a:defPPr algn="ctr">
              <a:defRPr sz="1800" b="1">
                <a:solidFill>
                  <a:srgbClr val="000000"/>
                </a:solidFill>
                <a:latin typeface="Arial"/>
                <a:ea typeface="Arial"/>
                <a:cs typeface="Arial"/>
              </a:defRPr>
            </a:defPPr>
          </a:lstStyle>
          <a:p>
            <a:pPr algn="ctr">
              <a:defRPr sz="1800" b="1">
                <a:solidFill>
                  <a:srgbClr val="000000"/>
                </a:solidFill>
                <a:latin typeface="Arial"/>
                <a:ea typeface="Arial"/>
                <a:cs typeface="Arial"/>
              </a:defRPr>
            </a:pPr>
            <a:r>
              <a:rPr sz="1800" b="1">
                <a:solidFill>
                  <a:srgbClr val="000000"/>
                </a:solidFill>
                <a:latin typeface="Arial"/>
                <a:ea typeface="Arial"/>
                <a:cs typeface="Arial"/>
              </a:rPr>
              <a:t>Admin</a:t>
            </a:r>
          </a:p>
        </p:txBody>
      </p:sp>
      <p:cxnSp>
        <p:nvCxnSpPr>
          <p:cNvPr id="3" name="Straight Arrow Connector 2">
            <a:extLst>
              <a:ext uri="{FF2B5EF4-FFF2-40B4-BE49-F238E27FC236}">
                <a16:creationId xmlns:a16="http://schemas.microsoft.com/office/drawing/2014/main" id="{92B8C618-18AC-43A6-AE70-A2E9030E62D1}"/>
              </a:ext>
            </a:extLst>
          </p:cNvPr>
          <p:cNvCxnSpPr/>
          <p:nvPr/>
        </p:nvCxnSpPr>
        <p:spPr>
          <a:xfrm>
            <a:off x="1047750" y="1781175"/>
            <a:ext cx="0" cy="4057650"/>
          </a:xfrm>
          <a:prstGeom prst="straightConnector1">
            <a:avLst/>
          </a:prstGeom>
          <a:ln w="11430">
            <a:solidFill>
              <a:srgbClr val="000000"/>
            </a:solidFill>
            <a:prstDash val="dash"/>
            <a:tailEnd type="none" w="med" len="med"/>
          </a:ln>
        </p:spPr>
      </p:cxnSp>
      <p:sp>
        <p:nvSpPr>
          <p:cNvPr id="4" name="Frontend">
            <a:extLst>
              <a:ext uri="{FF2B5EF4-FFF2-40B4-BE49-F238E27FC236}">
                <a16:creationId xmlns:a16="http://schemas.microsoft.com/office/drawing/2014/main" id="{4D1A61E5-7F95-4F7B-BA55-2127357EC9DB}"/>
              </a:ext>
            </a:extLst>
          </p:cNvPr>
          <p:cNvSpPr>
            <a:spLocks noGrp="1"/>
          </p:cNvSpPr>
          <p:nvPr/>
        </p:nvSpPr>
        <p:spPr>
          <a:xfrm>
            <a:off x="2857500" y="1304925"/>
            <a:ext cx="1619250" cy="428625"/>
          </a:xfrm>
          <a:prstGeom prst="rect">
            <a:avLst/>
          </a:prstGeom>
          <a:noFill/>
          <a:ln w="0">
            <a:noFill/>
          </a:ln>
        </p:spPr>
        <p:txBody>
          <a:bodyPr lIns="0" tIns="0" rIns="0" bIns="0" anchor="t">
            <a:noAutofit/>
          </a:bodyPr>
          <a:lstStyle>
            <a:defPPr algn="ctr">
              <a:defRPr sz="1800" b="1">
                <a:solidFill>
                  <a:srgbClr val="000000"/>
                </a:solidFill>
                <a:latin typeface="Arial"/>
                <a:ea typeface="Arial"/>
                <a:cs typeface="Arial"/>
              </a:defRPr>
            </a:defPPr>
          </a:lstStyle>
          <a:p>
            <a:pPr algn="ctr">
              <a:defRPr sz="1800" b="1">
                <a:solidFill>
                  <a:srgbClr val="000000"/>
                </a:solidFill>
                <a:latin typeface="Arial"/>
                <a:ea typeface="Arial"/>
                <a:cs typeface="Arial"/>
              </a:defRPr>
            </a:pPr>
            <a:r>
              <a:rPr sz="1800" b="1">
                <a:solidFill>
                  <a:srgbClr val="000000"/>
                </a:solidFill>
                <a:latin typeface="Arial"/>
                <a:ea typeface="Arial"/>
                <a:cs typeface="Arial"/>
              </a:rPr>
              <a:t>Frontend</a:t>
            </a:r>
          </a:p>
        </p:txBody>
      </p:sp>
      <p:cxnSp>
        <p:nvCxnSpPr>
          <p:cNvPr id="5" name="Straight Arrow Connector 4">
            <a:extLst>
              <a:ext uri="{FF2B5EF4-FFF2-40B4-BE49-F238E27FC236}">
                <a16:creationId xmlns:a16="http://schemas.microsoft.com/office/drawing/2014/main" id="{3484E13D-0429-458F-9C52-A8B293EA443A}"/>
              </a:ext>
            </a:extLst>
          </p:cNvPr>
          <p:cNvCxnSpPr/>
          <p:nvPr/>
        </p:nvCxnSpPr>
        <p:spPr>
          <a:xfrm>
            <a:off x="3667125" y="1781175"/>
            <a:ext cx="0" cy="4057650"/>
          </a:xfrm>
          <a:prstGeom prst="straightConnector1">
            <a:avLst/>
          </a:prstGeom>
          <a:ln w="11430">
            <a:solidFill>
              <a:srgbClr val="000000"/>
            </a:solidFill>
            <a:prstDash val="dash"/>
            <a:tailEnd type="none" w="med" len="med"/>
          </a:ln>
        </p:spPr>
      </p:cxnSp>
      <p:sp>
        <p:nvSpPr>
          <p:cNvPr id="6" name="Django API">
            <a:extLst>
              <a:ext uri="{FF2B5EF4-FFF2-40B4-BE49-F238E27FC236}">
                <a16:creationId xmlns:a16="http://schemas.microsoft.com/office/drawing/2014/main" id="{DFEFF383-673E-4BAE-9115-D61E0DC0EB5B}"/>
              </a:ext>
            </a:extLst>
          </p:cNvPr>
          <p:cNvSpPr>
            <a:spLocks noGrp="1"/>
          </p:cNvSpPr>
          <p:nvPr/>
        </p:nvSpPr>
        <p:spPr>
          <a:xfrm>
            <a:off x="5524500" y="1304925"/>
            <a:ext cx="1619250" cy="428625"/>
          </a:xfrm>
          <a:prstGeom prst="rect">
            <a:avLst/>
          </a:prstGeom>
          <a:noFill/>
          <a:ln w="0">
            <a:noFill/>
          </a:ln>
        </p:spPr>
        <p:txBody>
          <a:bodyPr lIns="0" tIns="0" rIns="0" bIns="0" anchor="t">
            <a:noAutofit/>
          </a:bodyPr>
          <a:lstStyle>
            <a:defPPr algn="ctr">
              <a:defRPr sz="1800" b="1">
                <a:solidFill>
                  <a:srgbClr val="000000"/>
                </a:solidFill>
                <a:latin typeface="Arial"/>
                <a:ea typeface="Arial"/>
                <a:cs typeface="Arial"/>
              </a:defRPr>
            </a:defPPr>
          </a:lstStyle>
          <a:p>
            <a:pPr algn="ctr">
              <a:defRPr sz="1800" b="1">
                <a:solidFill>
                  <a:srgbClr val="000000"/>
                </a:solidFill>
                <a:latin typeface="Arial"/>
                <a:ea typeface="Arial"/>
                <a:cs typeface="Arial"/>
              </a:defRPr>
            </a:pPr>
            <a:r>
              <a:rPr sz="1800" b="1">
                <a:solidFill>
                  <a:srgbClr val="000000"/>
                </a:solidFill>
                <a:latin typeface="Arial"/>
                <a:ea typeface="Arial"/>
                <a:cs typeface="Arial"/>
              </a:rPr>
              <a:t>Django API</a:t>
            </a:r>
          </a:p>
        </p:txBody>
      </p:sp>
      <p:cxnSp>
        <p:nvCxnSpPr>
          <p:cNvPr id="7" name="Straight Arrow Connector 6">
            <a:extLst>
              <a:ext uri="{FF2B5EF4-FFF2-40B4-BE49-F238E27FC236}">
                <a16:creationId xmlns:a16="http://schemas.microsoft.com/office/drawing/2014/main" id="{0EAF424F-167F-4893-9F49-1875D647A380}"/>
              </a:ext>
            </a:extLst>
          </p:cNvPr>
          <p:cNvCxnSpPr/>
          <p:nvPr/>
        </p:nvCxnSpPr>
        <p:spPr>
          <a:xfrm>
            <a:off x="6334125" y="1781175"/>
            <a:ext cx="0" cy="4057650"/>
          </a:xfrm>
          <a:prstGeom prst="straightConnector1">
            <a:avLst/>
          </a:prstGeom>
          <a:ln w="11430">
            <a:solidFill>
              <a:srgbClr val="000000"/>
            </a:solidFill>
            <a:prstDash val="dash"/>
            <a:tailEnd type="none" w="med" len="med"/>
          </a:ln>
        </p:spPr>
      </p:cxnSp>
      <p:sp>
        <p:nvSpPr>
          <p:cNvPr id="8" name="Database">
            <a:extLst>
              <a:ext uri="{FF2B5EF4-FFF2-40B4-BE49-F238E27FC236}">
                <a16:creationId xmlns:a16="http://schemas.microsoft.com/office/drawing/2014/main" id="{EB3F53B8-9978-4D05-A734-E86E650A0148}"/>
              </a:ext>
            </a:extLst>
          </p:cNvPr>
          <p:cNvSpPr>
            <a:spLocks noGrp="1"/>
          </p:cNvSpPr>
          <p:nvPr/>
        </p:nvSpPr>
        <p:spPr>
          <a:xfrm>
            <a:off x="8143875" y="1304925"/>
            <a:ext cx="1619250" cy="428625"/>
          </a:xfrm>
          <a:prstGeom prst="rect">
            <a:avLst/>
          </a:prstGeom>
          <a:noFill/>
          <a:ln w="0">
            <a:noFill/>
          </a:ln>
        </p:spPr>
        <p:txBody>
          <a:bodyPr lIns="0" tIns="0" rIns="0" bIns="0" anchor="t">
            <a:noAutofit/>
          </a:bodyPr>
          <a:lstStyle>
            <a:defPPr algn="ctr">
              <a:defRPr sz="1800" b="1">
                <a:solidFill>
                  <a:srgbClr val="000000"/>
                </a:solidFill>
                <a:latin typeface="Arial"/>
                <a:ea typeface="Arial"/>
                <a:cs typeface="Arial"/>
              </a:defRPr>
            </a:defPPr>
          </a:lstStyle>
          <a:p>
            <a:pPr algn="ctr">
              <a:defRPr sz="1800" b="1">
                <a:solidFill>
                  <a:srgbClr val="000000"/>
                </a:solidFill>
                <a:latin typeface="Arial"/>
                <a:ea typeface="Arial"/>
                <a:cs typeface="Arial"/>
              </a:defRPr>
            </a:pPr>
            <a:r>
              <a:rPr sz="1800" b="1">
                <a:solidFill>
                  <a:srgbClr val="000000"/>
                </a:solidFill>
                <a:latin typeface="Arial"/>
                <a:ea typeface="Arial"/>
                <a:cs typeface="Arial"/>
              </a:rPr>
              <a:t>Database</a:t>
            </a:r>
          </a:p>
        </p:txBody>
      </p:sp>
      <p:cxnSp>
        <p:nvCxnSpPr>
          <p:cNvPr id="9" name="Straight Arrow Connector 8">
            <a:extLst>
              <a:ext uri="{FF2B5EF4-FFF2-40B4-BE49-F238E27FC236}">
                <a16:creationId xmlns:a16="http://schemas.microsoft.com/office/drawing/2014/main" id="{34AB79DA-9AB5-4425-95FB-02D849173FB6}"/>
              </a:ext>
            </a:extLst>
          </p:cNvPr>
          <p:cNvCxnSpPr/>
          <p:nvPr/>
        </p:nvCxnSpPr>
        <p:spPr>
          <a:xfrm>
            <a:off x="8953500" y="1781175"/>
            <a:ext cx="0" cy="4057650"/>
          </a:xfrm>
          <a:prstGeom prst="straightConnector1">
            <a:avLst/>
          </a:prstGeom>
          <a:ln w="11430">
            <a:solidFill>
              <a:srgbClr val="000000"/>
            </a:solidFill>
            <a:prstDash val="dash"/>
            <a:tailEnd type="none" w="med" len="med"/>
          </a:ln>
        </p:spPr>
      </p:cxnSp>
      <p:sp>
        <p:nvSpPr>
          <p:cNvPr id="10" name="Student">
            <a:extLst>
              <a:ext uri="{FF2B5EF4-FFF2-40B4-BE49-F238E27FC236}">
                <a16:creationId xmlns:a16="http://schemas.microsoft.com/office/drawing/2014/main" id="{4F6C1BA7-5FB5-425B-AC2F-6C24F9516E08}"/>
              </a:ext>
            </a:extLst>
          </p:cNvPr>
          <p:cNvSpPr>
            <a:spLocks noGrp="1"/>
          </p:cNvSpPr>
          <p:nvPr/>
        </p:nvSpPr>
        <p:spPr>
          <a:xfrm>
            <a:off x="10334625" y="1304925"/>
            <a:ext cx="1619250" cy="428625"/>
          </a:xfrm>
          <a:prstGeom prst="rect">
            <a:avLst/>
          </a:prstGeom>
          <a:noFill/>
          <a:ln w="0">
            <a:noFill/>
          </a:ln>
        </p:spPr>
        <p:txBody>
          <a:bodyPr lIns="0" tIns="0" rIns="0" bIns="0" anchor="t">
            <a:noAutofit/>
          </a:bodyPr>
          <a:lstStyle>
            <a:defPPr algn="ctr">
              <a:defRPr sz="1800" b="1">
                <a:solidFill>
                  <a:srgbClr val="000000"/>
                </a:solidFill>
                <a:latin typeface="Arial"/>
                <a:ea typeface="Arial"/>
                <a:cs typeface="Arial"/>
              </a:defRPr>
            </a:defPPr>
          </a:lstStyle>
          <a:p>
            <a:pPr algn="ctr">
              <a:defRPr sz="1800" b="1">
                <a:solidFill>
                  <a:srgbClr val="000000"/>
                </a:solidFill>
                <a:latin typeface="Arial"/>
                <a:ea typeface="Arial"/>
                <a:cs typeface="Arial"/>
              </a:defRPr>
            </a:pPr>
            <a:r>
              <a:rPr sz="1800" b="1">
                <a:solidFill>
                  <a:srgbClr val="000000"/>
                </a:solidFill>
                <a:latin typeface="Arial"/>
                <a:ea typeface="Arial"/>
                <a:cs typeface="Arial"/>
              </a:rPr>
              <a:t>Student</a:t>
            </a:r>
          </a:p>
        </p:txBody>
      </p:sp>
      <p:cxnSp>
        <p:nvCxnSpPr>
          <p:cNvPr id="11" name="Straight Arrow Connector 10">
            <a:extLst>
              <a:ext uri="{FF2B5EF4-FFF2-40B4-BE49-F238E27FC236}">
                <a16:creationId xmlns:a16="http://schemas.microsoft.com/office/drawing/2014/main" id="{3E8F8A8F-562E-4C7B-8DD7-9B2F2DB8893D}"/>
              </a:ext>
            </a:extLst>
          </p:cNvPr>
          <p:cNvCxnSpPr/>
          <p:nvPr/>
        </p:nvCxnSpPr>
        <p:spPr>
          <a:xfrm>
            <a:off x="11144250" y="1781175"/>
            <a:ext cx="0" cy="4057650"/>
          </a:xfrm>
          <a:prstGeom prst="straightConnector1">
            <a:avLst/>
          </a:prstGeom>
          <a:ln w="11430">
            <a:solidFill>
              <a:srgbClr val="000000"/>
            </a:solidFill>
            <a:prstDash val="dash"/>
            <a:tailEnd type="none" w="med" len="med"/>
          </a:ln>
        </p:spPr>
      </p:cxnSp>
      <p:cxnSp>
        <p:nvCxnSpPr>
          <p:cNvPr id="12" name="Straight Arrow Connector 11">
            <a:extLst>
              <a:ext uri="{FF2B5EF4-FFF2-40B4-BE49-F238E27FC236}">
                <a16:creationId xmlns:a16="http://schemas.microsoft.com/office/drawing/2014/main" id="{A0C7D9D0-FA63-4A8C-A640-B9F2B4F48D05}"/>
              </a:ext>
            </a:extLst>
          </p:cNvPr>
          <p:cNvCxnSpPr/>
          <p:nvPr/>
        </p:nvCxnSpPr>
        <p:spPr>
          <a:xfrm>
            <a:off x="1047750" y="2114550"/>
            <a:ext cx="2619375" cy="0"/>
          </a:xfrm>
          <a:prstGeom prst="straightConnector1">
            <a:avLst/>
          </a:prstGeom>
          <a:ln w="11430">
            <a:solidFill>
              <a:srgbClr val="000000"/>
            </a:solidFill>
            <a:prstDash val="solid"/>
            <a:tailEnd type="arrow" w="med" len="med"/>
          </a:ln>
        </p:spPr>
      </p:cxnSp>
      <p:sp>
        <p:nvSpPr>
          <p:cNvPr id="13" name="Sign in">
            <a:extLst>
              <a:ext uri="{FF2B5EF4-FFF2-40B4-BE49-F238E27FC236}">
                <a16:creationId xmlns:a16="http://schemas.microsoft.com/office/drawing/2014/main" id="{022F246C-9F25-4C81-90F9-EBDB7E9A2D19}"/>
              </a:ext>
            </a:extLst>
          </p:cNvPr>
          <p:cNvSpPr>
            <a:spLocks noGrp="1"/>
          </p:cNvSpPr>
          <p:nvPr/>
        </p:nvSpPr>
        <p:spPr>
          <a:xfrm>
            <a:off x="1123950" y="1838325"/>
            <a:ext cx="2466975" cy="257175"/>
          </a:xfrm>
          <a:prstGeom prst="rect">
            <a:avLst/>
          </a:prstGeom>
          <a:noFill/>
          <a:ln w="0">
            <a:noFill/>
          </a:ln>
        </p:spPr>
        <p:txBody>
          <a:bodyPr lIns="0" tIns="0" rIns="0" bIns="0" anchor="t">
            <a:noAutofit/>
          </a:bodyPr>
          <a:lstStyle>
            <a:defPPr algn="ctr">
              <a:defRPr sz="1425" b="0">
                <a:solidFill>
                  <a:srgbClr val="000000"/>
                </a:solidFill>
                <a:latin typeface="Arial"/>
                <a:ea typeface="Arial"/>
                <a:cs typeface="Arial"/>
              </a:defRPr>
            </a:defPPr>
          </a:lstStyle>
          <a:p>
            <a:pPr algn="ctr">
              <a:defRPr sz="1425" b="0">
                <a:solidFill>
                  <a:srgbClr val="000000"/>
                </a:solidFill>
                <a:latin typeface="Arial"/>
                <a:ea typeface="Arial"/>
                <a:cs typeface="Arial"/>
              </a:defRPr>
            </a:pPr>
            <a:r>
              <a:rPr sz="1425" b="0">
                <a:solidFill>
                  <a:srgbClr val="000000"/>
                </a:solidFill>
                <a:latin typeface="Arial"/>
                <a:ea typeface="Arial"/>
                <a:cs typeface="Arial"/>
              </a:rPr>
              <a:t>Sign in</a:t>
            </a:r>
          </a:p>
        </p:txBody>
      </p:sp>
      <p:cxnSp>
        <p:nvCxnSpPr>
          <p:cNvPr id="14" name="Straight Arrow Connector 13">
            <a:extLst>
              <a:ext uri="{FF2B5EF4-FFF2-40B4-BE49-F238E27FC236}">
                <a16:creationId xmlns:a16="http://schemas.microsoft.com/office/drawing/2014/main" id="{D7FD0BD0-EE27-407C-86D0-C89B2F5D93C9}"/>
              </a:ext>
            </a:extLst>
          </p:cNvPr>
          <p:cNvCxnSpPr/>
          <p:nvPr/>
        </p:nvCxnSpPr>
        <p:spPr>
          <a:xfrm>
            <a:off x="3667125" y="2543175"/>
            <a:ext cx="2667000" cy="0"/>
          </a:xfrm>
          <a:prstGeom prst="straightConnector1">
            <a:avLst/>
          </a:prstGeom>
          <a:ln w="11430">
            <a:solidFill>
              <a:srgbClr val="000000"/>
            </a:solidFill>
            <a:prstDash val="solid"/>
            <a:tailEnd type="arrow" w="med" len="med"/>
          </a:ln>
        </p:spPr>
      </p:cxnSp>
      <p:sp>
        <p:nvSpPr>
          <p:cNvPr id="15" name="Credentials">
            <a:extLst>
              <a:ext uri="{FF2B5EF4-FFF2-40B4-BE49-F238E27FC236}">
                <a16:creationId xmlns:a16="http://schemas.microsoft.com/office/drawing/2014/main" id="{4F0A9B98-DBC3-44A1-A16B-E5F9420D6AFD}"/>
              </a:ext>
            </a:extLst>
          </p:cNvPr>
          <p:cNvSpPr>
            <a:spLocks noGrp="1"/>
          </p:cNvSpPr>
          <p:nvPr/>
        </p:nvSpPr>
        <p:spPr>
          <a:xfrm>
            <a:off x="3743325" y="2266950"/>
            <a:ext cx="2514600" cy="257175"/>
          </a:xfrm>
          <a:prstGeom prst="rect">
            <a:avLst/>
          </a:prstGeom>
          <a:noFill/>
          <a:ln w="0">
            <a:noFill/>
          </a:ln>
        </p:spPr>
        <p:txBody>
          <a:bodyPr lIns="0" tIns="0" rIns="0" bIns="0" anchor="t">
            <a:noAutofit/>
          </a:bodyPr>
          <a:lstStyle>
            <a:defPPr algn="ctr">
              <a:defRPr sz="1425" b="0">
                <a:solidFill>
                  <a:srgbClr val="000000"/>
                </a:solidFill>
                <a:latin typeface="Arial"/>
                <a:ea typeface="Arial"/>
                <a:cs typeface="Arial"/>
              </a:defRPr>
            </a:defPPr>
          </a:lstStyle>
          <a:p>
            <a:pPr algn="ctr">
              <a:defRPr sz="1425" b="0">
                <a:solidFill>
                  <a:srgbClr val="000000"/>
                </a:solidFill>
                <a:latin typeface="Arial"/>
                <a:ea typeface="Arial"/>
                <a:cs typeface="Arial"/>
              </a:defRPr>
            </a:pPr>
            <a:r>
              <a:rPr sz="1425" b="0">
                <a:solidFill>
                  <a:srgbClr val="000000"/>
                </a:solidFill>
                <a:latin typeface="Arial"/>
                <a:ea typeface="Arial"/>
                <a:cs typeface="Arial"/>
              </a:rPr>
              <a:t>Credentials</a:t>
            </a:r>
          </a:p>
        </p:txBody>
      </p:sp>
      <p:cxnSp>
        <p:nvCxnSpPr>
          <p:cNvPr id="16" name="Straight Arrow Connector 15">
            <a:extLst>
              <a:ext uri="{FF2B5EF4-FFF2-40B4-BE49-F238E27FC236}">
                <a16:creationId xmlns:a16="http://schemas.microsoft.com/office/drawing/2014/main" id="{467758A9-D3F9-45CD-B07F-76FAC49AD5BC}"/>
              </a:ext>
            </a:extLst>
          </p:cNvPr>
          <p:cNvCxnSpPr/>
          <p:nvPr/>
        </p:nvCxnSpPr>
        <p:spPr>
          <a:xfrm>
            <a:off x="6334125" y="2971800"/>
            <a:ext cx="2619375" cy="0"/>
          </a:xfrm>
          <a:prstGeom prst="straightConnector1">
            <a:avLst/>
          </a:prstGeom>
          <a:ln w="11430">
            <a:solidFill>
              <a:srgbClr val="000000"/>
            </a:solidFill>
            <a:prstDash val="solid"/>
            <a:tailEnd type="arrow" w="med" len="med"/>
          </a:ln>
        </p:spPr>
      </p:cxnSp>
      <p:sp>
        <p:nvSpPr>
          <p:cNvPr id="17" name="Validate user">
            <a:extLst>
              <a:ext uri="{FF2B5EF4-FFF2-40B4-BE49-F238E27FC236}">
                <a16:creationId xmlns:a16="http://schemas.microsoft.com/office/drawing/2014/main" id="{30FF3DDB-9B5E-487C-A196-331897A58A5A}"/>
              </a:ext>
            </a:extLst>
          </p:cNvPr>
          <p:cNvSpPr>
            <a:spLocks noGrp="1"/>
          </p:cNvSpPr>
          <p:nvPr/>
        </p:nvSpPr>
        <p:spPr>
          <a:xfrm>
            <a:off x="6410325" y="2695575"/>
            <a:ext cx="2466975" cy="257175"/>
          </a:xfrm>
          <a:prstGeom prst="rect">
            <a:avLst/>
          </a:prstGeom>
          <a:noFill/>
          <a:ln w="0">
            <a:noFill/>
          </a:ln>
        </p:spPr>
        <p:txBody>
          <a:bodyPr lIns="0" tIns="0" rIns="0" bIns="0" anchor="t">
            <a:noAutofit/>
          </a:bodyPr>
          <a:lstStyle>
            <a:defPPr algn="ctr">
              <a:defRPr sz="1425" b="0">
                <a:solidFill>
                  <a:srgbClr val="000000"/>
                </a:solidFill>
                <a:latin typeface="Arial"/>
                <a:ea typeface="Arial"/>
                <a:cs typeface="Arial"/>
              </a:defRPr>
            </a:defPPr>
          </a:lstStyle>
          <a:p>
            <a:pPr algn="ctr">
              <a:defRPr sz="1425" b="0">
                <a:solidFill>
                  <a:srgbClr val="000000"/>
                </a:solidFill>
                <a:latin typeface="Arial"/>
                <a:ea typeface="Arial"/>
                <a:cs typeface="Arial"/>
              </a:defRPr>
            </a:pPr>
            <a:r>
              <a:rPr sz="1425" b="0">
                <a:solidFill>
                  <a:srgbClr val="000000"/>
                </a:solidFill>
                <a:latin typeface="Arial"/>
                <a:ea typeface="Arial"/>
                <a:cs typeface="Arial"/>
              </a:rPr>
              <a:t>Validate user</a:t>
            </a:r>
          </a:p>
        </p:txBody>
      </p:sp>
      <p:cxnSp>
        <p:nvCxnSpPr>
          <p:cNvPr id="18" name="Straight Arrow Connector 17">
            <a:extLst>
              <a:ext uri="{FF2B5EF4-FFF2-40B4-BE49-F238E27FC236}">
                <a16:creationId xmlns:a16="http://schemas.microsoft.com/office/drawing/2014/main" id="{151FC272-2C03-4D95-B030-F80EA2B30A84}"/>
              </a:ext>
            </a:extLst>
          </p:cNvPr>
          <p:cNvCxnSpPr/>
          <p:nvPr/>
        </p:nvCxnSpPr>
        <p:spPr>
          <a:xfrm>
            <a:off x="1047750" y="3400425"/>
            <a:ext cx="5286375" cy="0"/>
          </a:xfrm>
          <a:prstGeom prst="straightConnector1">
            <a:avLst/>
          </a:prstGeom>
          <a:ln w="11430">
            <a:solidFill>
              <a:srgbClr val="000000"/>
            </a:solidFill>
            <a:prstDash val="solid"/>
            <a:tailEnd type="arrow" w="med" len="med"/>
          </a:ln>
        </p:spPr>
      </p:cxnSp>
      <p:sp>
        <p:nvSpPr>
          <p:cNvPr id="19" name="Publish notice">
            <a:extLst>
              <a:ext uri="{FF2B5EF4-FFF2-40B4-BE49-F238E27FC236}">
                <a16:creationId xmlns:a16="http://schemas.microsoft.com/office/drawing/2014/main" id="{31DC77F3-EABD-4835-A34F-75866C116518}"/>
              </a:ext>
            </a:extLst>
          </p:cNvPr>
          <p:cNvSpPr>
            <a:spLocks noGrp="1"/>
          </p:cNvSpPr>
          <p:nvPr/>
        </p:nvSpPr>
        <p:spPr>
          <a:xfrm>
            <a:off x="1123950" y="3124200"/>
            <a:ext cx="5133975" cy="257175"/>
          </a:xfrm>
          <a:prstGeom prst="rect">
            <a:avLst/>
          </a:prstGeom>
          <a:noFill/>
          <a:ln w="0">
            <a:noFill/>
          </a:ln>
        </p:spPr>
        <p:txBody>
          <a:bodyPr lIns="0" tIns="0" rIns="0" bIns="0" anchor="t">
            <a:noAutofit/>
          </a:bodyPr>
          <a:lstStyle>
            <a:defPPr algn="ctr">
              <a:defRPr sz="1425" b="0">
                <a:solidFill>
                  <a:srgbClr val="000000"/>
                </a:solidFill>
                <a:latin typeface="Arial"/>
                <a:ea typeface="Arial"/>
                <a:cs typeface="Arial"/>
              </a:defRPr>
            </a:defPPr>
          </a:lstStyle>
          <a:p>
            <a:pPr algn="ctr">
              <a:defRPr sz="1425" b="0">
                <a:solidFill>
                  <a:srgbClr val="000000"/>
                </a:solidFill>
                <a:latin typeface="Arial"/>
                <a:ea typeface="Arial"/>
                <a:cs typeface="Arial"/>
              </a:defRPr>
            </a:pPr>
            <a:r>
              <a:rPr sz="1425" b="0">
                <a:solidFill>
                  <a:srgbClr val="000000"/>
                </a:solidFill>
                <a:latin typeface="Arial"/>
                <a:ea typeface="Arial"/>
                <a:cs typeface="Arial"/>
              </a:rPr>
              <a:t>Publish notice</a:t>
            </a:r>
          </a:p>
        </p:txBody>
      </p:sp>
      <p:cxnSp>
        <p:nvCxnSpPr>
          <p:cNvPr id="20" name="Straight Arrow Connector 19">
            <a:extLst>
              <a:ext uri="{FF2B5EF4-FFF2-40B4-BE49-F238E27FC236}">
                <a16:creationId xmlns:a16="http://schemas.microsoft.com/office/drawing/2014/main" id="{D4394ADA-C476-4BD8-83F1-7941C44AAAE4}"/>
              </a:ext>
            </a:extLst>
          </p:cNvPr>
          <p:cNvCxnSpPr/>
          <p:nvPr/>
        </p:nvCxnSpPr>
        <p:spPr>
          <a:xfrm>
            <a:off x="6334125" y="3829050"/>
            <a:ext cx="2619375" cy="0"/>
          </a:xfrm>
          <a:prstGeom prst="straightConnector1">
            <a:avLst/>
          </a:prstGeom>
          <a:ln w="11430">
            <a:solidFill>
              <a:srgbClr val="000000"/>
            </a:solidFill>
            <a:prstDash val="solid"/>
            <a:tailEnd type="arrow" w="med" len="med"/>
          </a:ln>
        </p:spPr>
      </p:cxnSp>
      <p:sp>
        <p:nvSpPr>
          <p:cNvPr id="21" name="Save notice + alerts">
            <a:extLst>
              <a:ext uri="{FF2B5EF4-FFF2-40B4-BE49-F238E27FC236}">
                <a16:creationId xmlns:a16="http://schemas.microsoft.com/office/drawing/2014/main" id="{59870B7D-8ABD-4684-B496-7DE105500614}"/>
              </a:ext>
            </a:extLst>
          </p:cNvPr>
          <p:cNvSpPr>
            <a:spLocks noGrp="1"/>
          </p:cNvSpPr>
          <p:nvPr/>
        </p:nvSpPr>
        <p:spPr>
          <a:xfrm>
            <a:off x="6410325" y="3552825"/>
            <a:ext cx="2466975" cy="257175"/>
          </a:xfrm>
          <a:prstGeom prst="rect">
            <a:avLst/>
          </a:prstGeom>
          <a:noFill/>
          <a:ln w="0">
            <a:noFill/>
          </a:ln>
        </p:spPr>
        <p:txBody>
          <a:bodyPr lIns="0" tIns="0" rIns="0" bIns="0" anchor="t">
            <a:noAutofit/>
          </a:bodyPr>
          <a:lstStyle>
            <a:defPPr algn="ctr">
              <a:defRPr sz="1425" b="0">
                <a:solidFill>
                  <a:srgbClr val="000000"/>
                </a:solidFill>
                <a:latin typeface="Arial"/>
                <a:ea typeface="Arial"/>
                <a:cs typeface="Arial"/>
              </a:defRPr>
            </a:defPPr>
          </a:lstStyle>
          <a:p>
            <a:pPr algn="ctr">
              <a:defRPr sz="1425" b="0">
                <a:solidFill>
                  <a:srgbClr val="000000"/>
                </a:solidFill>
                <a:latin typeface="Arial"/>
                <a:ea typeface="Arial"/>
                <a:cs typeface="Arial"/>
              </a:defRPr>
            </a:pPr>
            <a:r>
              <a:rPr sz="1425" b="0">
                <a:solidFill>
                  <a:srgbClr val="000000"/>
                </a:solidFill>
                <a:latin typeface="Arial"/>
                <a:ea typeface="Arial"/>
                <a:cs typeface="Arial"/>
              </a:rPr>
              <a:t>Save notice + alerts</a:t>
            </a:r>
          </a:p>
        </p:txBody>
      </p:sp>
      <p:cxnSp>
        <p:nvCxnSpPr>
          <p:cNvPr id="22" name="Straight Arrow Connector 21">
            <a:extLst>
              <a:ext uri="{FF2B5EF4-FFF2-40B4-BE49-F238E27FC236}">
                <a16:creationId xmlns:a16="http://schemas.microsoft.com/office/drawing/2014/main" id="{5BBEE890-B9D0-44B7-B26A-05DDBAB4A30D}"/>
              </a:ext>
            </a:extLst>
          </p:cNvPr>
          <p:cNvCxnSpPr/>
          <p:nvPr/>
        </p:nvCxnSpPr>
        <p:spPr>
          <a:xfrm flipH="1">
            <a:off x="6334125" y="4410075"/>
            <a:ext cx="4810125" cy="0"/>
          </a:xfrm>
          <a:prstGeom prst="straightConnector1">
            <a:avLst/>
          </a:prstGeom>
          <a:ln w="11430">
            <a:solidFill>
              <a:srgbClr val="000000"/>
            </a:solidFill>
            <a:prstDash val="solid"/>
            <a:tailEnd type="arrow" w="med" len="med"/>
          </a:ln>
        </p:spPr>
      </p:cxnSp>
      <p:sp>
        <p:nvSpPr>
          <p:cNvPr id="23" name="Poll notifications (10 s)">
            <a:extLst>
              <a:ext uri="{FF2B5EF4-FFF2-40B4-BE49-F238E27FC236}">
                <a16:creationId xmlns:a16="http://schemas.microsoft.com/office/drawing/2014/main" id="{EE23AC7E-6454-40AA-ADD3-F0F7310B7F4F}"/>
              </a:ext>
            </a:extLst>
          </p:cNvPr>
          <p:cNvSpPr>
            <a:spLocks noGrp="1"/>
          </p:cNvSpPr>
          <p:nvPr/>
        </p:nvSpPr>
        <p:spPr>
          <a:xfrm>
            <a:off x="6410325" y="4133850"/>
            <a:ext cx="4657725" cy="257175"/>
          </a:xfrm>
          <a:prstGeom prst="rect">
            <a:avLst/>
          </a:prstGeom>
          <a:noFill/>
          <a:ln w="0">
            <a:noFill/>
          </a:ln>
        </p:spPr>
        <p:txBody>
          <a:bodyPr lIns="0" tIns="0" rIns="0" bIns="0" anchor="t">
            <a:noAutofit/>
          </a:bodyPr>
          <a:lstStyle>
            <a:defPPr algn="ctr">
              <a:defRPr sz="1425" b="0">
                <a:solidFill>
                  <a:srgbClr val="000000"/>
                </a:solidFill>
                <a:latin typeface="Arial"/>
                <a:ea typeface="Arial"/>
                <a:cs typeface="Arial"/>
              </a:defRPr>
            </a:defPPr>
          </a:lstStyle>
          <a:p>
            <a:pPr algn="ctr">
              <a:defRPr sz="1425" b="0">
                <a:solidFill>
                  <a:srgbClr val="000000"/>
                </a:solidFill>
                <a:latin typeface="Arial"/>
                <a:ea typeface="Arial"/>
                <a:cs typeface="Arial"/>
              </a:defRPr>
            </a:pPr>
            <a:r>
              <a:rPr sz="1425" b="0">
                <a:solidFill>
                  <a:srgbClr val="000000"/>
                </a:solidFill>
                <a:latin typeface="Arial"/>
                <a:ea typeface="Arial"/>
                <a:cs typeface="Arial"/>
              </a:rPr>
              <a:t>Poll notifications (10 s)</a:t>
            </a:r>
          </a:p>
        </p:txBody>
      </p:sp>
      <p:cxnSp>
        <p:nvCxnSpPr>
          <p:cNvPr id="24" name="Straight Arrow Connector 23">
            <a:extLst>
              <a:ext uri="{FF2B5EF4-FFF2-40B4-BE49-F238E27FC236}">
                <a16:creationId xmlns:a16="http://schemas.microsoft.com/office/drawing/2014/main" id="{A2213334-17F8-40D8-8A34-F1545B860069}"/>
              </a:ext>
            </a:extLst>
          </p:cNvPr>
          <p:cNvCxnSpPr/>
          <p:nvPr/>
        </p:nvCxnSpPr>
        <p:spPr>
          <a:xfrm>
            <a:off x="6334125" y="4914900"/>
            <a:ext cx="4810125" cy="0"/>
          </a:xfrm>
          <a:prstGeom prst="straightConnector1">
            <a:avLst/>
          </a:prstGeom>
          <a:ln w="11430">
            <a:solidFill>
              <a:srgbClr val="000000"/>
            </a:solidFill>
            <a:prstDash val="solid"/>
            <a:tailEnd type="arrow" w="med" len="med"/>
          </a:ln>
        </p:spPr>
      </p:cxnSp>
      <p:sp>
        <p:nvSpPr>
          <p:cNvPr id="25" name="Return relevant alerts">
            <a:extLst>
              <a:ext uri="{FF2B5EF4-FFF2-40B4-BE49-F238E27FC236}">
                <a16:creationId xmlns:a16="http://schemas.microsoft.com/office/drawing/2014/main" id="{30E75CBC-3131-4E3C-9AAB-030346D0268B}"/>
              </a:ext>
            </a:extLst>
          </p:cNvPr>
          <p:cNvSpPr>
            <a:spLocks noGrp="1"/>
          </p:cNvSpPr>
          <p:nvPr/>
        </p:nvSpPr>
        <p:spPr>
          <a:xfrm>
            <a:off x="6410325" y="4638675"/>
            <a:ext cx="4657725" cy="257175"/>
          </a:xfrm>
          <a:prstGeom prst="rect">
            <a:avLst/>
          </a:prstGeom>
          <a:noFill/>
          <a:ln w="0">
            <a:noFill/>
          </a:ln>
        </p:spPr>
        <p:txBody>
          <a:bodyPr lIns="0" tIns="0" rIns="0" bIns="0" anchor="t">
            <a:noAutofit/>
          </a:bodyPr>
          <a:lstStyle>
            <a:defPPr algn="ctr">
              <a:defRPr sz="1425" b="0">
                <a:solidFill>
                  <a:srgbClr val="000000"/>
                </a:solidFill>
                <a:latin typeface="Arial"/>
                <a:ea typeface="Arial"/>
                <a:cs typeface="Arial"/>
              </a:defRPr>
            </a:defPPr>
          </a:lstStyle>
          <a:p>
            <a:pPr algn="ctr">
              <a:defRPr sz="1425" b="0">
                <a:solidFill>
                  <a:srgbClr val="000000"/>
                </a:solidFill>
                <a:latin typeface="Arial"/>
                <a:ea typeface="Arial"/>
                <a:cs typeface="Arial"/>
              </a:defRPr>
            </a:pPr>
            <a:r>
              <a:rPr sz="1425" b="0">
                <a:solidFill>
                  <a:srgbClr val="000000"/>
                </a:solidFill>
                <a:latin typeface="Arial"/>
                <a:ea typeface="Arial"/>
                <a:cs typeface="Arial"/>
              </a:rPr>
              <a:t>Return relevant alerts</a:t>
            </a:r>
          </a:p>
        </p:txBody>
      </p:sp>
      <p:cxnSp>
        <p:nvCxnSpPr>
          <p:cNvPr id="26" name="Straight Arrow Connector 25">
            <a:extLst>
              <a:ext uri="{FF2B5EF4-FFF2-40B4-BE49-F238E27FC236}">
                <a16:creationId xmlns:a16="http://schemas.microsoft.com/office/drawing/2014/main" id="{28A14C2A-72BC-4B01-A04C-80A580FCF113}"/>
              </a:ext>
            </a:extLst>
          </p:cNvPr>
          <p:cNvCxnSpPr/>
          <p:nvPr/>
        </p:nvCxnSpPr>
        <p:spPr>
          <a:xfrm flipH="1">
            <a:off x="6334125" y="5419725"/>
            <a:ext cx="4810125" cy="0"/>
          </a:xfrm>
          <a:prstGeom prst="straightConnector1">
            <a:avLst/>
          </a:prstGeom>
          <a:ln w="11430">
            <a:solidFill>
              <a:srgbClr val="000000"/>
            </a:solidFill>
            <a:prstDash val="solid"/>
            <a:tailEnd type="arrow" w="med" len="med"/>
          </a:ln>
        </p:spPr>
      </p:cxnSp>
      <p:sp>
        <p:nvSpPr>
          <p:cNvPr id="27" name="Open notice">
            <a:extLst>
              <a:ext uri="{FF2B5EF4-FFF2-40B4-BE49-F238E27FC236}">
                <a16:creationId xmlns:a16="http://schemas.microsoft.com/office/drawing/2014/main" id="{1B6E9750-D7B7-4A83-AB2B-C4CA77A33FCD}"/>
              </a:ext>
            </a:extLst>
          </p:cNvPr>
          <p:cNvSpPr>
            <a:spLocks noGrp="1"/>
          </p:cNvSpPr>
          <p:nvPr/>
        </p:nvSpPr>
        <p:spPr>
          <a:xfrm>
            <a:off x="6410325" y="5143500"/>
            <a:ext cx="4657725" cy="257175"/>
          </a:xfrm>
          <a:prstGeom prst="rect">
            <a:avLst/>
          </a:prstGeom>
          <a:noFill/>
          <a:ln w="0">
            <a:noFill/>
          </a:ln>
        </p:spPr>
        <p:txBody>
          <a:bodyPr lIns="0" tIns="0" rIns="0" bIns="0" anchor="t">
            <a:noAutofit/>
          </a:bodyPr>
          <a:lstStyle>
            <a:defPPr algn="ctr">
              <a:defRPr sz="1425" b="0">
                <a:solidFill>
                  <a:srgbClr val="000000"/>
                </a:solidFill>
                <a:latin typeface="Arial"/>
                <a:ea typeface="Arial"/>
                <a:cs typeface="Arial"/>
              </a:defRPr>
            </a:defPPr>
          </a:lstStyle>
          <a:p>
            <a:pPr algn="ctr">
              <a:defRPr sz="1425" b="0">
                <a:solidFill>
                  <a:srgbClr val="000000"/>
                </a:solidFill>
                <a:latin typeface="Arial"/>
                <a:ea typeface="Arial"/>
                <a:cs typeface="Arial"/>
              </a:defRPr>
            </a:pPr>
            <a:r>
              <a:rPr sz="1425" b="0">
                <a:solidFill>
                  <a:srgbClr val="000000"/>
                </a:solidFill>
                <a:latin typeface="Arial"/>
                <a:ea typeface="Arial"/>
                <a:cs typeface="Arial"/>
              </a:rPr>
              <a:t>Open notice</a:t>
            </a:r>
          </a:p>
        </p:txBody>
      </p:sp>
      <p:sp>
        <p:nvSpPr>
          <p:cNvPr id="28" name="Email delivery follows the configured backend. The local rec">
            <a:extLst>
              <a:ext uri="{FF2B5EF4-FFF2-40B4-BE49-F238E27FC236}">
                <a16:creationId xmlns:a16="http://schemas.microsoft.com/office/drawing/2014/main" id="{51EA18F2-8D59-449E-B35D-B000A3E84EF6}"/>
              </a:ext>
            </a:extLst>
          </p:cNvPr>
          <p:cNvSpPr>
            <a:spLocks noGrp="1"/>
          </p:cNvSpPr>
          <p:nvPr/>
        </p:nvSpPr>
        <p:spPr>
          <a:xfrm>
            <a:off x="609600" y="6115050"/>
            <a:ext cx="10858500" cy="419100"/>
          </a:xfrm>
          <a:prstGeom prst="rect">
            <a:avLst/>
          </a:prstGeom>
          <a:noFill/>
          <a:ln w="0">
            <a:noFill/>
          </a:ln>
        </p:spPr>
        <p:txBody>
          <a:bodyPr lIns="0" tIns="0" rIns="0" bIns="0" anchor="t">
            <a:noAutofit/>
          </a:bodyPr>
          <a:lstStyle>
            <a:defPPr algn="l">
              <a:defRPr sz="1425" b="0">
                <a:solidFill>
                  <a:srgbClr val="000000"/>
                </a:solidFill>
                <a:latin typeface="Arial"/>
                <a:ea typeface="Arial"/>
                <a:cs typeface="Arial"/>
              </a:defRPr>
            </a:defPPr>
          </a:lstStyle>
          <a:p>
            <a:pPr algn="l">
              <a:defRPr sz="1425" b="0">
                <a:solidFill>
                  <a:srgbClr val="000000"/>
                </a:solidFill>
                <a:latin typeface="Arial"/>
                <a:ea typeface="Arial"/>
                <a:cs typeface="Arial"/>
              </a:defRPr>
            </a:pPr>
            <a:r>
              <a:rPr sz="1425" b="0">
                <a:solidFill>
                  <a:srgbClr val="000000"/>
                </a:solidFill>
                <a:latin typeface="Arial"/>
                <a:ea typeface="Arial"/>
                <a:cs typeface="Arial"/>
              </a:rPr>
              <a:t>Email delivery follows the configured backend. The local recording uses demo email files.</a:t>
            </a:r>
          </a:p>
        </p:txBody>
      </p:sp>
      <p:sp>
        <p:nvSpPr>
          <p:cNvPr id="29" name="16">
            <a:extLst>
              <a:ext uri="{FF2B5EF4-FFF2-40B4-BE49-F238E27FC236}">
                <a16:creationId xmlns:a16="http://schemas.microsoft.com/office/drawing/2014/main" id="{B0E1FE1A-FEB6-4B7B-B81A-D606AFF8B242}"/>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dirty="0">
                <a:solidFill>
                  <a:srgbClr val="000000"/>
                </a:solidFill>
                <a:latin typeface="Arial"/>
                <a:ea typeface="Arial"/>
                <a:cs typeface="Arial"/>
              </a:rPr>
              <a:t>1</a:t>
            </a:r>
            <a:r>
              <a:rPr lang="en-US" sz="1200" b="0" dirty="0">
                <a:solidFill>
                  <a:srgbClr val="000000"/>
                </a:solidFill>
                <a:latin typeface="Arial"/>
                <a:ea typeface="Arial"/>
                <a:cs typeface="Arial"/>
              </a:rPr>
              <a:t>7</a:t>
            </a:r>
            <a:endParaRPr sz="1200" b="0" dirty="0">
              <a:solidFill>
                <a:srgbClr val="000000"/>
              </a:solidFill>
              <a:latin typeface="Arial"/>
              <a:ea typeface="Arial"/>
              <a:cs typeface="Arial"/>
            </a:endParaRPr>
          </a:p>
        </p:txBody>
      </p:sp>
    </p:spTree>
    <p:extLst>
      <p:ext uri="{BB962C8B-B14F-4D97-AF65-F5344CB8AC3E}">
        <p14:creationId xmlns:p14="http://schemas.microsoft.com/office/powerpoint/2010/main" val="1956736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2" name="Straight Arrow Connector 11">
            <a:extLst>
              <a:ext uri="{FF2B5EF4-FFF2-40B4-BE49-F238E27FC236}">
                <a16:creationId xmlns:a16="http://schemas.microsoft.com/office/drawing/2014/main" id="{91C7E739-8ED6-4D1D-95E5-4CC04B504A75}"/>
              </a:ext>
            </a:extLst>
          </p:cNvPr>
          <p:cNvCxnSpPr>
            <a:stCxn id="4" idx="3"/>
            <a:endCxn id="11" idx="1"/>
          </p:cNvCxnSpPr>
          <p:nvPr/>
        </p:nvCxnSpPr>
        <p:spPr>
          <a:xfrm>
            <a:off x="8572500" y="3810000"/>
            <a:ext cx="571500" cy="0"/>
          </a:xfrm>
          <a:prstGeom prst="straightConnector1">
            <a:avLst/>
          </a:prstGeom>
          <a:ln w="12383">
            <a:solidFill>
              <a:srgbClr val="000000"/>
            </a:solidFill>
            <a:tailEnd type="arrow" w="med" len="med"/>
          </a:ln>
        </p:spPr>
      </p:cxnSp>
      <p:cxnSp>
        <p:nvCxnSpPr>
          <p:cNvPr id="10" name="Straight Arrow Connector 9">
            <a:extLst>
              <a:ext uri="{FF2B5EF4-FFF2-40B4-BE49-F238E27FC236}">
                <a16:creationId xmlns:a16="http://schemas.microsoft.com/office/drawing/2014/main" id="{5E636793-AA13-4D32-8706-A374804CD488}"/>
              </a:ext>
            </a:extLst>
          </p:cNvPr>
          <p:cNvCxnSpPr>
            <a:stCxn id="4" idx="1"/>
            <a:endCxn id="9" idx="3"/>
          </p:cNvCxnSpPr>
          <p:nvPr/>
        </p:nvCxnSpPr>
        <p:spPr>
          <a:xfrm flipH="1">
            <a:off x="3048000" y="3810000"/>
            <a:ext cx="571500" cy="0"/>
          </a:xfrm>
          <a:prstGeom prst="straightConnector1">
            <a:avLst/>
          </a:prstGeom>
          <a:ln w="12383">
            <a:solidFill>
              <a:srgbClr val="000000"/>
            </a:solidFill>
            <a:tailEnd type="arrow" w="med" len="med"/>
          </a:ln>
        </p:spPr>
      </p:cxnSp>
      <p:cxnSp>
        <p:nvCxnSpPr>
          <p:cNvPr id="8" name="Straight Arrow Connector 7">
            <a:extLst>
              <a:ext uri="{FF2B5EF4-FFF2-40B4-BE49-F238E27FC236}">
                <a16:creationId xmlns:a16="http://schemas.microsoft.com/office/drawing/2014/main" id="{059425BF-C76B-4741-A56B-B9AFC41BDCE2}"/>
              </a:ext>
            </a:extLst>
          </p:cNvPr>
          <p:cNvCxnSpPr>
            <a:stCxn id="4" idx="2"/>
            <a:endCxn id="5" idx="0"/>
          </p:cNvCxnSpPr>
          <p:nvPr/>
        </p:nvCxnSpPr>
        <p:spPr>
          <a:xfrm>
            <a:off x="6096000" y="4238625"/>
            <a:ext cx="0" cy="561975"/>
          </a:xfrm>
          <a:prstGeom prst="straightConnector1">
            <a:avLst/>
          </a:prstGeom>
          <a:ln w="12383">
            <a:solidFill>
              <a:srgbClr val="000000"/>
            </a:solidFill>
            <a:tailEnd type="arrow" w="med" len="med"/>
          </a:ln>
        </p:spPr>
      </p:cxnSp>
      <p:cxnSp>
        <p:nvCxnSpPr>
          <p:cNvPr id="7" name="Straight Arrow Connector 6">
            <a:extLst>
              <a:ext uri="{FF2B5EF4-FFF2-40B4-BE49-F238E27FC236}">
                <a16:creationId xmlns:a16="http://schemas.microsoft.com/office/drawing/2014/main" id="{2890AB2C-73FD-403E-8353-E19CACDD1A98}"/>
              </a:ext>
            </a:extLst>
          </p:cNvPr>
          <p:cNvCxnSpPr>
            <a:stCxn id="3" idx="2"/>
            <a:endCxn id="4" idx="0"/>
          </p:cNvCxnSpPr>
          <p:nvPr/>
        </p:nvCxnSpPr>
        <p:spPr>
          <a:xfrm>
            <a:off x="6096000" y="2943225"/>
            <a:ext cx="0" cy="438150"/>
          </a:xfrm>
          <a:prstGeom prst="straightConnector1">
            <a:avLst/>
          </a:prstGeom>
          <a:ln w="12383">
            <a:solidFill>
              <a:srgbClr val="000000"/>
            </a:solidFill>
            <a:tailEnd type="arrow" w="med" len="med"/>
          </a:ln>
        </p:spPr>
      </p:cxnSp>
      <p:cxnSp>
        <p:nvCxnSpPr>
          <p:cNvPr id="6" name="Straight Arrow Connector 5">
            <a:extLst>
              <a:ext uri="{FF2B5EF4-FFF2-40B4-BE49-F238E27FC236}">
                <a16:creationId xmlns:a16="http://schemas.microsoft.com/office/drawing/2014/main" id="{CE72715F-A623-4D02-A76F-DFD0BBC395BE}"/>
              </a:ext>
            </a:extLst>
          </p:cNvPr>
          <p:cNvCxnSpPr>
            <a:stCxn id="2" idx="2"/>
            <a:endCxn id="3" idx="0"/>
          </p:cNvCxnSpPr>
          <p:nvPr/>
        </p:nvCxnSpPr>
        <p:spPr>
          <a:xfrm>
            <a:off x="6096000" y="1838325"/>
            <a:ext cx="0" cy="438150"/>
          </a:xfrm>
          <a:prstGeom prst="straightConnector1">
            <a:avLst/>
          </a:prstGeom>
          <a:ln w="12383">
            <a:solidFill>
              <a:srgbClr val="000000"/>
            </a:solidFill>
            <a:tailEnd type="arrow" w="med" len="med"/>
          </a:ln>
        </p:spPr>
      </p:cxnSp>
      <p:sp>
        <p:nvSpPr>
          <p:cNvPr id="15" name="System Architecture">
            <a:extLst>
              <a:ext uri="{FF2B5EF4-FFF2-40B4-BE49-F238E27FC236}">
                <a16:creationId xmlns:a16="http://schemas.microsoft.com/office/drawing/2014/main" id="{3148EF52-1946-4760-AB75-C9FBB28587ED}"/>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System Architecture</a:t>
            </a:r>
          </a:p>
        </p:txBody>
      </p:sp>
      <p:sp>
        <p:nvSpPr>
          <p:cNvPr id="2" name="Student / Department admin / Coordinator">
            <a:extLst>
              <a:ext uri="{FF2B5EF4-FFF2-40B4-BE49-F238E27FC236}">
                <a16:creationId xmlns:a16="http://schemas.microsoft.com/office/drawing/2014/main" id="{320D0975-8147-4FBC-9818-0AB823C0D245}"/>
              </a:ext>
            </a:extLst>
          </p:cNvPr>
          <p:cNvSpPr>
            <a:spLocks noGrp="1"/>
          </p:cNvSpPr>
          <p:nvPr/>
        </p:nvSpPr>
        <p:spPr>
          <a:xfrm>
            <a:off x="3619500" y="1266825"/>
            <a:ext cx="4953000" cy="571500"/>
          </a:xfrm>
          <a:prstGeom prst="rect">
            <a:avLst/>
          </a:prstGeom>
          <a:solidFill>
            <a:srgbClr val="FFFFFF"/>
          </a:solidFill>
          <a:ln w="13335">
            <a:solidFill>
              <a:srgbClr val="000000"/>
            </a:solidFill>
          </a:ln>
        </p:spPr>
        <p:txBody>
          <a:bodyPr lIns="95250" tIns="95250" rIns="95250" bIns="95250" anchor="ctr">
            <a:noAutofit/>
          </a:bodyPr>
          <a:lstStyle>
            <a:defPPr algn="ctr">
              <a:defRPr sz="1800">
                <a:solidFill>
                  <a:srgbClr val="000000"/>
                </a:solidFill>
                <a:latin typeface="Arial"/>
                <a:ea typeface="Arial"/>
                <a:cs typeface="Arial"/>
              </a:defRPr>
            </a:defPPr>
          </a:lstStyle>
          <a:p>
            <a:pPr algn="ctr">
              <a:defRPr sz="1800">
                <a:solidFill>
                  <a:srgbClr val="000000"/>
                </a:solidFill>
                <a:latin typeface="Arial"/>
                <a:ea typeface="Arial"/>
                <a:cs typeface="Arial"/>
              </a:defRPr>
            </a:pPr>
            <a:r>
              <a:rPr sz="1800">
                <a:solidFill>
                  <a:srgbClr val="000000"/>
                </a:solidFill>
                <a:latin typeface="Arial"/>
                <a:ea typeface="Arial"/>
                <a:cs typeface="Arial"/>
              </a:rPr>
              <a:t>Student / Department admin / Coordinator</a:t>
            </a:r>
          </a:p>
        </p:txBody>
      </p:sp>
      <p:sp>
        <p:nvSpPr>
          <p:cNvPr id="3" name="HTML, CSS and JavaScript frontend">
            <a:extLst>
              <a:ext uri="{FF2B5EF4-FFF2-40B4-BE49-F238E27FC236}">
                <a16:creationId xmlns:a16="http://schemas.microsoft.com/office/drawing/2014/main" id="{EB771745-3138-4D60-B579-947EA632E9BD}"/>
              </a:ext>
            </a:extLst>
          </p:cNvPr>
          <p:cNvSpPr>
            <a:spLocks noGrp="1"/>
          </p:cNvSpPr>
          <p:nvPr/>
        </p:nvSpPr>
        <p:spPr>
          <a:xfrm>
            <a:off x="3619500" y="2276475"/>
            <a:ext cx="4953000" cy="666750"/>
          </a:xfrm>
          <a:prstGeom prst="rect">
            <a:avLst/>
          </a:prstGeom>
          <a:solidFill>
            <a:srgbClr val="FFFFFF"/>
          </a:solidFill>
          <a:ln w="13335">
            <a:solidFill>
              <a:srgbClr val="000000"/>
            </a:solidFill>
          </a:ln>
        </p:spPr>
        <p:txBody>
          <a:bodyPr lIns="95250" tIns="95250" rIns="95250" bIns="95250" anchor="ctr">
            <a:noAutofit/>
          </a:bodyPr>
          <a:lstStyle>
            <a:defPPr algn="ctr">
              <a:defRPr sz="1800">
                <a:solidFill>
                  <a:srgbClr val="000000"/>
                </a:solidFill>
                <a:latin typeface="Arial"/>
                <a:ea typeface="Arial"/>
                <a:cs typeface="Arial"/>
              </a:defRPr>
            </a:defPPr>
          </a:lstStyle>
          <a:p>
            <a:pPr algn="ctr">
              <a:defRPr sz="1800">
                <a:solidFill>
                  <a:srgbClr val="000000"/>
                </a:solidFill>
                <a:latin typeface="Arial"/>
                <a:ea typeface="Arial"/>
                <a:cs typeface="Arial"/>
              </a:defRPr>
            </a:pPr>
            <a:r>
              <a:rPr sz="1800">
                <a:solidFill>
                  <a:srgbClr val="000000"/>
                </a:solidFill>
                <a:latin typeface="Arial"/>
                <a:ea typeface="Arial"/>
                <a:cs typeface="Arial"/>
              </a:rPr>
              <a:t>HTML, CSS and JavaScript frontend</a:t>
            </a:r>
          </a:p>
        </p:txBody>
      </p:sp>
      <p:sp>
        <p:nvSpPr>
          <p:cNvPr id="4" name="Django + REST API&#10;Permissions, notice logic and validation">
            <a:extLst>
              <a:ext uri="{FF2B5EF4-FFF2-40B4-BE49-F238E27FC236}">
                <a16:creationId xmlns:a16="http://schemas.microsoft.com/office/drawing/2014/main" id="{4F666A09-DA57-4B3D-85B3-3E591C0F7650}"/>
              </a:ext>
            </a:extLst>
          </p:cNvPr>
          <p:cNvSpPr>
            <a:spLocks noGrp="1"/>
          </p:cNvSpPr>
          <p:nvPr/>
        </p:nvSpPr>
        <p:spPr>
          <a:xfrm>
            <a:off x="3619500" y="3381375"/>
            <a:ext cx="4953000" cy="857250"/>
          </a:xfrm>
          <a:prstGeom prst="rect">
            <a:avLst/>
          </a:prstGeom>
          <a:solidFill>
            <a:srgbClr val="FFFFFF"/>
          </a:solidFill>
          <a:ln w="13335">
            <a:solidFill>
              <a:srgbClr val="000000"/>
            </a:solidFill>
          </a:ln>
        </p:spPr>
        <p:txBody>
          <a:bodyPr lIns="95250" tIns="95250" rIns="95250" bIns="95250" anchor="ctr">
            <a:noAutofit/>
          </a:bodyPr>
          <a:lstStyle>
            <a:defPPr algn="ctr">
              <a:defRPr sz="1800">
                <a:solidFill>
                  <a:srgbClr val="000000"/>
                </a:solidFill>
                <a:latin typeface="Arial"/>
                <a:ea typeface="Arial"/>
                <a:cs typeface="Arial"/>
              </a:defRPr>
            </a:defPPr>
          </a:lstStyle>
          <a:p>
            <a:pPr algn="ctr">
              <a:defRPr sz="1800">
                <a:solidFill>
                  <a:srgbClr val="000000"/>
                </a:solidFill>
                <a:latin typeface="Arial"/>
                <a:ea typeface="Arial"/>
                <a:cs typeface="Arial"/>
              </a:defRPr>
            </a:pPr>
            <a:r>
              <a:rPr sz="1800">
                <a:solidFill>
                  <a:srgbClr val="000000"/>
                </a:solidFill>
                <a:latin typeface="Arial"/>
                <a:ea typeface="Arial"/>
                <a:cs typeface="Arial"/>
              </a:rPr>
              <a:t>Django + REST API</a:t>
            </a:r>
          </a:p>
          <a:p>
            <a:pPr algn="ctr">
              <a:defRPr sz="1800">
                <a:solidFill>
                  <a:srgbClr val="000000"/>
                </a:solidFill>
                <a:latin typeface="Arial"/>
                <a:ea typeface="Arial"/>
                <a:cs typeface="Arial"/>
              </a:defRPr>
            </a:pPr>
            <a:r>
              <a:rPr sz="1800">
                <a:solidFill>
                  <a:srgbClr val="000000"/>
                </a:solidFill>
                <a:latin typeface="Arial"/>
                <a:ea typeface="Arial"/>
                <a:cs typeface="Arial"/>
              </a:rPr>
              <a:t>Permissions, notice logic and validation</a:t>
            </a:r>
          </a:p>
        </p:txBody>
      </p:sp>
      <p:sp>
        <p:nvSpPr>
          <p:cNvPr id="5" name="SQLite database&#10;Local demonstration">
            <a:extLst>
              <a:ext uri="{FF2B5EF4-FFF2-40B4-BE49-F238E27FC236}">
                <a16:creationId xmlns:a16="http://schemas.microsoft.com/office/drawing/2014/main" id="{739A8C28-FCB3-487E-BE58-816699B27152}"/>
              </a:ext>
            </a:extLst>
          </p:cNvPr>
          <p:cNvSpPr>
            <a:spLocks noGrp="1"/>
          </p:cNvSpPr>
          <p:nvPr/>
        </p:nvSpPr>
        <p:spPr>
          <a:xfrm>
            <a:off x="3619500" y="4800600"/>
            <a:ext cx="4953000" cy="762000"/>
          </a:xfrm>
          <a:prstGeom prst="rect">
            <a:avLst/>
          </a:prstGeom>
          <a:solidFill>
            <a:srgbClr val="FFFFFF"/>
          </a:solidFill>
          <a:ln w="13335">
            <a:solidFill>
              <a:srgbClr val="000000"/>
            </a:solidFill>
          </a:ln>
        </p:spPr>
        <p:txBody>
          <a:bodyPr lIns="95250" tIns="95250" rIns="95250" bIns="95250" anchor="ctr">
            <a:noAutofit/>
          </a:bodyPr>
          <a:lstStyle>
            <a:defPPr algn="ctr">
              <a:defRPr sz="1800">
                <a:solidFill>
                  <a:srgbClr val="000000"/>
                </a:solidFill>
                <a:latin typeface="Arial"/>
                <a:ea typeface="Arial"/>
                <a:cs typeface="Arial"/>
              </a:defRPr>
            </a:defPPr>
          </a:lstStyle>
          <a:p>
            <a:pPr algn="ctr">
              <a:defRPr sz="1800">
                <a:solidFill>
                  <a:srgbClr val="000000"/>
                </a:solidFill>
                <a:latin typeface="Arial"/>
                <a:ea typeface="Arial"/>
                <a:cs typeface="Arial"/>
              </a:defRPr>
            </a:pPr>
            <a:r>
              <a:rPr sz="1800">
                <a:solidFill>
                  <a:srgbClr val="000000"/>
                </a:solidFill>
                <a:latin typeface="Arial"/>
                <a:ea typeface="Arial"/>
                <a:cs typeface="Arial"/>
              </a:rPr>
              <a:t>SQLite database</a:t>
            </a:r>
          </a:p>
          <a:p>
            <a:pPr algn="ctr">
              <a:defRPr sz="1800">
                <a:solidFill>
                  <a:srgbClr val="000000"/>
                </a:solidFill>
                <a:latin typeface="Arial"/>
                <a:ea typeface="Arial"/>
                <a:cs typeface="Arial"/>
              </a:defRPr>
            </a:pPr>
            <a:r>
              <a:rPr sz="1800">
                <a:solidFill>
                  <a:srgbClr val="000000"/>
                </a:solidFill>
                <a:latin typeface="Arial"/>
                <a:ea typeface="Arial"/>
                <a:cs typeface="Arial"/>
              </a:rPr>
              <a:t>Local demonstration</a:t>
            </a:r>
          </a:p>
        </p:txBody>
      </p:sp>
      <p:sp>
        <p:nvSpPr>
          <p:cNvPr id="9" name="Local language tools&#10;Summary, priority, NLLB">
            <a:extLst>
              <a:ext uri="{FF2B5EF4-FFF2-40B4-BE49-F238E27FC236}">
                <a16:creationId xmlns:a16="http://schemas.microsoft.com/office/drawing/2014/main" id="{D6AF959C-6D47-4CCE-9D78-AF9FD7AE65EA}"/>
              </a:ext>
            </a:extLst>
          </p:cNvPr>
          <p:cNvSpPr>
            <a:spLocks noGrp="1"/>
          </p:cNvSpPr>
          <p:nvPr/>
        </p:nvSpPr>
        <p:spPr>
          <a:xfrm>
            <a:off x="381000" y="3362325"/>
            <a:ext cx="2667000" cy="895350"/>
          </a:xfrm>
          <a:prstGeom prst="rect">
            <a:avLst/>
          </a:prstGeom>
          <a:solidFill>
            <a:srgbClr val="FFFFFF"/>
          </a:solidFill>
          <a:ln w="13335">
            <a:solidFill>
              <a:srgbClr val="000000"/>
            </a:solidFill>
          </a:ln>
        </p:spPr>
        <p:txBody>
          <a:bodyPr lIns="95250" tIns="95250" rIns="95250" bIns="95250" anchor="ctr">
            <a:noAutofit/>
          </a:bodyPr>
          <a:lstStyle>
            <a:defPPr algn="ctr">
              <a:defRPr sz="1650">
                <a:solidFill>
                  <a:srgbClr val="000000"/>
                </a:solidFill>
                <a:latin typeface="Arial"/>
                <a:ea typeface="Arial"/>
                <a:cs typeface="Arial"/>
              </a:defRPr>
            </a:defPPr>
          </a:lstStyle>
          <a:p>
            <a:pPr algn="ctr">
              <a:defRPr sz="1650">
                <a:solidFill>
                  <a:srgbClr val="000000"/>
                </a:solidFill>
                <a:latin typeface="Arial"/>
                <a:ea typeface="Arial"/>
                <a:cs typeface="Arial"/>
              </a:defRPr>
            </a:pPr>
            <a:r>
              <a:rPr sz="1650">
                <a:solidFill>
                  <a:srgbClr val="000000"/>
                </a:solidFill>
                <a:latin typeface="Arial"/>
                <a:ea typeface="Arial"/>
                <a:cs typeface="Arial"/>
              </a:rPr>
              <a:t>Local language tools</a:t>
            </a:r>
          </a:p>
          <a:p>
            <a:pPr algn="ctr">
              <a:defRPr sz="1650">
                <a:solidFill>
                  <a:srgbClr val="000000"/>
                </a:solidFill>
                <a:latin typeface="Arial"/>
                <a:ea typeface="Arial"/>
                <a:cs typeface="Arial"/>
              </a:defRPr>
            </a:pPr>
            <a:r>
              <a:rPr sz="1650">
                <a:solidFill>
                  <a:srgbClr val="000000"/>
                </a:solidFill>
                <a:latin typeface="Arial"/>
                <a:ea typeface="Arial"/>
                <a:cs typeface="Arial"/>
              </a:rPr>
              <a:t>Summary, priority, NLLB</a:t>
            </a:r>
          </a:p>
        </p:txBody>
      </p:sp>
      <p:sp>
        <p:nvSpPr>
          <p:cNvPr id="11" name="Alerts and email jobs&#10;Immediate local tasks">
            <a:extLst>
              <a:ext uri="{FF2B5EF4-FFF2-40B4-BE49-F238E27FC236}">
                <a16:creationId xmlns:a16="http://schemas.microsoft.com/office/drawing/2014/main" id="{8BD5C4C6-7564-414F-9255-B785C444F950}"/>
              </a:ext>
            </a:extLst>
          </p:cNvPr>
          <p:cNvSpPr>
            <a:spLocks noGrp="1"/>
          </p:cNvSpPr>
          <p:nvPr/>
        </p:nvSpPr>
        <p:spPr>
          <a:xfrm>
            <a:off x="9144000" y="3362325"/>
            <a:ext cx="2667000" cy="895350"/>
          </a:xfrm>
          <a:prstGeom prst="rect">
            <a:avLst/>
          </a:prstGeom>
          <a:solidFill>
            <a:srgbClr val="FFFFFF"/>
          </a:solidFill>
          <a:ln w="13335">
            <a:solidFill>
              <a:srgbClr val="000000"/>
            </a:solidFill>
          </a:ln>
        </p:spPr>
        <p:txBody>
          <a:bodyPr lIns="95250" tIns="95250" rIns="95250" bIns="95250" anchor="ctr">
            <a:noAutofit/>
          </a:bodyPr>
          <a:lstStyle>
            <a:defPPr algn="ctr">
              <a:defRPr sz="1650">
                <a:solidFill>
                  <a:srgbClr val="000000"/>
                </a:solidFill>
                <a:latin typeface="Arial"/>
                <a:ea typeface="Arial"/>
                <a:cs typeface="Arial"/>
              </a:defRPr>
            </a:defPPr>
          </a:lstStyle>
          <a:p>
            <a:pPr algn="ctr">
              <a:defRPr sz="1650">
                <a:solidFill>
                  <a:srgbClr val="000000"/>
                </a:solidFill>
                <a:latin typeface="Arial"/>
                <a:ea typeface="Arial"/>
                <a:cs typeface="Arial"/>
              </a:defRPr>
            </a:pPr>
            <a:r>
              <a:rPr sz="1650">
                <a:solidFill>
                  <a:srgbClr val="000000"/>
                </a:solidFill>
                <a:latin typeface="Arial"/>
                <a:ea typeface="Arial"/>
                <a:cs typeface="Arial"/>
              </a:rPr>
              <a:t>Alerts and email jobs</a:t>
            </a:r>
          </a:p>
          <a:p>
            <a:pPr algn="ctr">
              <a:defRPr sz="1650">
                <a:solidFill>
                  <a:srgbClr val="000000"/>
                </a:solidFill>
                <a:latin typeface="Arial"/>
                <a:ea typeface="Arial"/>
                <a:cs typeface="Arial"/>
              </a:defRPr>
            </a:pPr>
            <a:r>
              <a:rPr sz="1650">
                <a:solidFill>
                  <a:srgbClr val="000000"/>
                </a:solidFill>
                <a:latin typeface="Arial"/>
                <a:ea typeface="Arial"/>
                <a:cs typeface="Arial"/>
              </a:rPr>
              <a:t>Immediate local tasks</a:t>
            </a:r>
          </a:p>
        </p:txBody>
      </p:sp>
      <p:sp>
        <p:nvSpPr>
          <p:cNvPr id="13" name="Docker configuration substitutes PostgreSQL and adds Redis, ">
            <a:extLst>
              <a:ext uri="{FF2B5EF4-FFF2-40B4-BE49-F238E27FC236}">
                <a16:creationId xmlns:a16="http://schemas.microsoft.com/office/drawing/2014/main" id="{6DF68264-6823-411C-BFBE-389DDF896493}"/>
              </a:ext>
            </a:extLst>
          </p:cNvPr>
          <p:cNvSpPr>
            <a:spLocks noGrp="1"/>
          </p:cNvSpPr>
          <p:nvPr/>
        </p:nvSpPr>
        <p:spPr>
          <a:xfrm>
            <a:off x="609600" y="6115050"/>
            <a:ext cx="10858500" cy="419100"/>
          </a:xfrm>
          <a:prstGeom prst="rect">
            <a:avLst/>
          </a:prstGeom>
          <a:noFill/>
          <a:ln w="0">
            <a:noFill/>
          </a:ln>
        </p:spPr>
        <p:txBody>
          <a:bodyPr lIns="0" tIns="0" rIns="0" bIns="0" anchor="t">
            <a:noAutofit/>
          </a:bodyPr>
          <a:lstStyle>
            <a:defPPr algn="l">
              <a:defRPr sz="1425" b="0">
                <a:solidFill>
                  <a:srgbClr val="000000"/>
                </a:solidFill>
                <a:latin typeface="Arial"/>
                <a:ea typeface="Arial"/>
                <a:cs typeface="Arial"/>
              </a:defRPr>
            </a:defPPr>
          </a:lstStyle>
          <a:p>
            <a:pPr algn="l">
              <a:defRPr sz="1425" b="0">
                <a:solidFill>
                  <a:srgbClr val="000000"/>
                </a:solidFill>
                <a:latin typeface="Arial"/>
                <a:ea typeface="Arial"/>
                <a:cs typeface="Arial"/>
              </a:defRPr>
            </a:pPr>
            <a:r>
              <a:rPr sz="1425" b="0">
                <a:solidFill>
                  <a:srgbClr val="000000"/>
                </a:solidFill>
                <a:latin typeface="Arial"/>
                <a:ea typeface="Arial"/>
                <a:cs typeface="Arial"/>
              </a:rPr>
              <a:t>Docker configuration substitutes PostgreSQL and adds Redis, Celery worker and scheduler. SMTP is optional.</a:t>
            </a:r>
          </a:p>
        </p:txBody>
      </p:sp>
      <p:sp>
        <p:nvSpPr>
          <p:cNvPr id="14" name="12">
            <a:extLst>
              <a:ext uri="{FF2B5EF4-FFF2-40B4-BE49-F238E27FC236}">
                <a16:creationId xmlns:a16="http://schemas.microsoft.com/office/drawing/2014/main" id="{BDA82B2A-680C-4D03-8D8D-1B72E9052CE3}"/>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dirty="0">
                <a:solidFill>
                  <a:srgbClr val="000000"/>
                </a:solidFill>
                <a:latin typeface="Arial"/>
                <a:ea typeface="Arial"/>
                <a:cs typeface="Arial"/>
              </a:rPr>
              <a:t>1</a:t>
            </a:r>
            <a:r>
              <a:rPr lang="en-US" sz="1200" b="0" dirty="0">
                <a:solidFill>
                  <a:srgbClr val="000000"/>
                </a:solidFill>
                <a:latin typeface="Arial"/>
                <a:ea typeface="Arial"/>
                <a:cs typeface="Arial"/>
              </a:rPr>
              <a:t>8</a:t>
            </a:r>
            <a:endParaRPr sz="1200" b="0" dirty="0">
              <a:solidFill>
                <a:srgbClr val="000000"/>
              </a:solidFill>
              <a:latin typeface="Arial"/>
              <a:ea typeface="Arial"/>
              <a:cs typeface="Arial"/>
            </a:endParaRPr>
          </a:p>
        </p:txBody>
      </p:sp>
    </p:spTree>
    <p:extLst>
      <p:ext uri="{BB962C8B-B14F-4D97-AF65-F5344CB8AC3E}">
        <p14:creationId xmlns:p14="http://schemas.microsoft.com/office/powerpoint/2010/main" val="805072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Module Description">
            <a:extLst>
              <a:ext uri="{FF2B5EF4-FFF2-40B4-BE49-F238E27FC236}">
                <a16:creationId xmlns:a16="http://schemas.microsoft.com/office/drawing/2014/main" id="{BE9AAEC9-77CE-4B5F-BD46-F1D8C0337251}"/>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Module Description</a:t>
            </a:r>
          </a:p>
        </p:txBody>
      </p:sp>
      <p:sp>
        <p:nvSpPr>
          <p:cNvPr id="2" name="Rectangle 1">
            <a:extLst>
              <a:ext uri="{FF2B5EF4-FFF2-40B4-BE49-F238E27FC236}">
                <a16:creationId xmlns:a16="http://schemas.microsoft.com/office/drawing/2014/main" id="{6EE5B8AD-669A-4709-BB5B-AE2B11D4206E}"/>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User access: registration, sign-in, role checks and profile settings.</a:t>
            </a:r>
          </a:p>
          <a:p>
            <a:pPr marL="279400" indent="-152400" algn="l">
              <a:spcAft>
                <a:spcPts val="2200"/>
              </a:spcAft>
              <a:buChar char="•"/>
              <a:defRPr sz="2250" b="0">
                <a:solidFill>
                  <a:srgbClr val="000000"/>
                </a:solidFill>
                <a:latin typeface="Arial"/>
                <a:ea typeface="Arial"/>
                <a:cs typeface="Arial"/>
              </a:defRPr>
            </a:pPr>
            <a:r>
              <a:t>Notice management: publishing, editing, attachments, expiry and archive.</a:t>
            </a:r>
          </a:p>
          <a:p>
            <a:pPr marL="279400" indent="-152400" algn="l">
              <a:spcAft>
                <a:spcPts val="2200"/>
              </a:spcAft>
              <a:buChar char="•"/>
              <a:defRPr sz="2250" b="0">
                <a:solidFill>
                  <a:srgbClr val="000000"/>
                </a:solidFill>
                <a:latin typeface="Arial"/>
                <a:ea typeface="Arial"/>
                <a:cs typeface="Arial"/>
              </a:defRPr>
            </a:pPr>
            <a:r>
              <a:t>Student workspace: search, filtering, bookmarks and notifications.</a:t>
            </a:r>
          </a:p>
          <a:p>
            <a:pPr marL="279400" indent="-152400" algn="l">
              <a:spcAft>
                <a:spcPts val="2200"/>
              </a:spcAft>
              <a:buChar char="•"/>
              <a:defRPr sz="2250" b="0">
                <a:solidFill>
                  <a:srgbClr val="000000"/>
                </a:solidFill>
                <a:latin typeface="Arial"/>
                <a:ea typeface="Arial"/>
                <a:cs typeface="Arial"/>
              </a:defRPr>
            </a:pPr>
            <a:r>
              <a:t>Language assistance: summaries, priority rules, translation and source-linked answers.</a:t>
            </a:r>
          </a:p>
          <a:p>
            <a:pPr marL="279400" indent="-152400" algn="l">
              <a:spcAft>
                <a:spcPts val="2200"/>
              </a:spcAft>
              <a:buChar char="•"/>
              <a:defRPr sz="2250" b="0">
                <a:solidFill>
                  <a:srgbClr val="000000"/>
                </a:solidFill>
                <a:latin typeface="Arial"/>
                <a:ea typeface="Arial"/>
                <a:cs typeface="Arial"/>
              </a:defRPr>
            </a:pPr>
            <a:r>
              <a:t>Administration: catalogue maintenance, dashboard, email status and CSV reports.</a:t>
            </a:r>
          </a:p>
        </p:txBody>
      </p:sp>
      <p:sp>
        <p:nvSpPr>
          <p:cNvPr id="3" name="19">
            <a:extLst>
              <a:ext uri="{FF2B5EF4-FFF2-40B4-BE49-F238E27FC236}">
                <a16:creationId xmlns:a16="http://schemas.microsoft.com/office/drawing/2014/main" id="{BA2D8E85-AF52-43EB-9103-2E591844D77F}"/>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19</a:t>
            </a:r>
          </a:p>
        </p:txBody>
      </p:sp>
    </p:spTree>
    <p:extLst>
      <p:ext uri="{BB962C8B-B14F-4D97-AF65-F5344CB8AC3E}">
        <p14:creationId xmlns:p14="http://schemas.microsoft.com/office/powerpoint/2010/main" val="292003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Algorithm / Methodology">
            <a:extLst>
              <a:ext uri="{FF2B5EF4-FFF2-40B4-BE49-F238E27FC236}">
                <a16:creationId xmlns:a16="http://schemas.microsoft.com/office/drawing/2014/main" id="{039E548E-2B91-4B17-AF85-5BBBF2E7D677}"/>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Algorithm / Methodology</a:t>
            </a:r>
          </a:p>
        </p:txBody>
      </p:sp>
      <p:sp>
        <p:nvSpPr>
          <p:cNvPr id="2" name="Rectangle 1">
            <a:extLst>
              <a:ext uri="{FF2B5EF4-FFF2-40B4-BE49-F238E27FC236}">
                <a16:creationId xmlns:a16="http://schemas.microsoft.com/office/drawing/2014/main" id="{49223D6A-82FF-4A51-8EE4-8C910F2AEEE8}"/>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Validate the user role, notice fields and attachment before saving.</a:t>
            </a:r>
          </a:p>
          <a:p>
            <a:pPr marL="279400" indent="-152400" algn="l">
              <a:spcAft>
                <a:spcPts val="2200"/>
              </a:spcAft>
              <a:buChar char="•"/>
              <a:defRPr sz="2250" b="0">
                <a:solidFill>
                  <a:srgbClr val="000000"/>
                </a:solidFill>
                <a:latin typeface="Arial"/>
                <a:ea typeface="Arial"/>
                <a:cs typeface="Arial"/>
              </a:defRPr>
            </a:pPr>
            <a:r>
              <a:t>Score sentences using word frequency and date or deadline cues, then select up to two.</a:t>
            </a:r>
          </a:p>
          <a:p>
            <a:pPr marL="279400" indent="-152400" algn="l">
              <a:spcAft>
                <a:spcPts val="2200"/>
              </a:spcAft>
              <a:buChar char="•"/>
              <a:defRPr sz="2250" b="0">
                <a:solidFill>
                  <a:srgbClr val="000000"/>
                </a:solidFill>
                <a:latin typeface="Arial"/>
                <a:ea typeface="Arial"/>
                <a:cs typeface="Arial"/>
              </a:defRPr>
            </a:pPr>
            <a:r>
              <a:t>Detect priority using English and Malayalam rules, with an administrator override.</a:t>
            </a:r>
          </a:p>
          <a:p>
            <a:pPr marL="279400" indent="-152400" algn="l">
              <a:spcAft>
                <a:spcPts val="2200"/>
              </a:spcAft>
              <a:buChar char="•"/>
              <a:defRPr sz="2250" b="0">
                <a:solidFill>
                  <a:srgbClr val="000000"/>
                </a:solidFill>
                <a:latin typeface="Arial"/>
                <a:ea typeface="Arial"/>
                <a:cs typeface="Arial"/>
              </a:defRPr>
            </a:pPr>
            <a:r>
              <a:t>Translate locally using the NLLB model with CTranslate2 and SentencePiece.</a:t>
            </a:r>
          </a:p>
          <a:p>
            <a:pPr marL="279400" indent="-152400" algn="l">
              <a:spcAft>
                <a:spcPts val="2200"/>
              </a:spcAft>
              <a:buChar char="•"/>
              <a:defRPr sz="2250" b="0">
                <a:solidFill>
                  <a:srgbClr val="000000"/>
                </a:solidFill>
                <a:latin typeface="Arial"/>
                <a:ea typeface="Arial"/>
                <a:cs typeface="Arial"/>
              </a:defRPr>
            </a:pPr>
            <a:r>
              <a:t>Rank active notices by matching query terms and return excerpts with source links.</a:t>
            </a:r>
          </a:p>
        </p:txBody>
      </p:sp>
      <p:sp>
        <p:nvSpPr>
          <p:cNvPr id="3" name="20">
            <a:extLst>
              <a:ext uri="{FF2B5EF4-FFF2-40B4-BE49-F238E27FC236}">
                <a16:creationId xmlns:a16="http://schemas.microsoft.com/office/drawing/2014/main" id="{18AD9AE6-25D5-4FC6-B2E7-B383BDC82773}"/>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20</a:t>
            </a:r>
          </a:p>
        </p:txBody>
      </p:sp>
    </p:spTree>
    <p:extLst>
      <p:ext uri="{BB962C8B-B14F-4D97-AF65-F5344CB8AC3E}">
        <p14:creationId xmlns:p14="http://schemas.microsoft.com/office/powerpoint/2010/main" val="1776822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Implementation">
            <a:extLst>
              <a:ext uri="{FF2B5EF4-FFF2-40B4-BE49-F238E27FC236}">
                <a16:creationId xmlns:a16="http://schemas.microsoft.com/office/drawing/2014/main" id="{3F0BBB6B-92C0-48B0-B18D-A095513B0CDC}"/>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Implementation</a:t>
            </a:r>
          </a:p>
        </p:txBody>
      </p:sp>
      <p:sp>
        <p:nvSpPr>
          <p:cNvPr id="2" name="Rectangle 1">
            <a:extLst>
              <a:ext uri="{FF2B5EF4-FFF2-40B4-BE49-F238E27FC236}">
                <a16:creationId xmlns:a16="http://schemas.microsoft.com/office/drawing/2014/main" id="{59B1CA3D-A7DD-480A-827F-159B5DB1FE8A}"/>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Django models store users, departments, categories, notices and related records.</a:t>
            </a:r>
          </a:p>
          <a:p>
            <a:pPr marL="279400" indent="-152400" algn="l">
              <a:spcAft>
                <a:spcPts val="2200"/>
              </a:spcAft>
              <a:buChar char="•"/>
              <a:defRPr sz="2250" b="0">
                <a:solidFill>
                  <a:srgbClr val="000000"/>
                </a:solidFill>
                <a:latin typeface="Arial"/>
                <a:ea typeface="Arial"/>
                <a:cs typeface="Arial"/>
              </a:defRPr>
            </a:pPr>
            <a:r>
              <a:t>REST endpoints apply permissions, validation and active-notice filters.</a:t>
            </a:r>
          </a:p>
          <a:p>
            <a:pPr marL="279400" indent="-152400" algn="l">
              <a:spcAft>
                <a:spcPts val="2200"/>
              </a:spcAft>
              <a:buChar char="•"/>
              <a:defRPr sz="2250" b="0">
                <a:solidFill>
                  <a:srgbClr val="000000"/>
                </a:solidFill>
                <a:latin typeface="Arial"/>
                <a:ea typeface="Arial"/>
                <a:cs typeface="Arial"/>
              </a:defRPr>
            </a:pPr>
            <a:r>
              <a:t>The browser uses CSRF-protected sessions. JWT endpoints support API clients.</a:t>
            </a:r>
          </a:p>
          <a:p>
            <a:pPr marL="279400" indent="-152400" algn="l">
              <a:spcAft>
                <a:spcPts val="2200"/>
              </a:spcAft>
              <a:buChar char="•"/>
              <a:defRPr sz="2250" b="0">
                <a:solidFill>
                  <a:srgbClr val="000000"/>
                </a:solidFill>
                <a:latin typeface="Arial"/>
                <a:ea typeface="Arial"/>
                <a:cs typeface="Arial"/>
              </a:defRPr>
            </a:pPr>
            <a:r>
              <a:t>JavaScript renders the interface and polls notifications every 10 seconds.</a:t>
            </a:r>
          </a:p>
          <a:p>
            <a:pPr marL="279400" indent="-152400" algn="l">
              <a:spcAft>
                <a:spcPts val="2200"/>
              </a:spcAft>
              <a:buChar char="•"/>
              <a:defRPr sz="2250" b="0">
                <a:solidFill>
                  <a:srgbClr val="000000"/>
                </a:solidFill>
                <a:latin typeface="Arial"/>
                <a:ea typeface="Arial"/>
                <a:cs typeface="Arial"/>
              </a:defRPr>
            </a:pPr>
            <a:r>
              <a:t>The local setup executes tasks immediately and stores demonstration emails in files.</a:t>
            </a:r>
          </a:p>
        </p:txBody>
      </p:sp>
      <p:sp>
        <p:nvSpPr>
          <p:cNvPr id="3" name="21">
            <a:extLst>
              <a:ext uri="{FF2B5EF4-FFF2-40B4-BE49-F238E27FC236}">
                <a16:creationId xmlns:a16="http://schemas.microsoft.com/office/drawing/2014/main" id="{69497BB0-0192-479D-A847-D96F8746BF85}"/>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21</a:t>
            </a:r>
          </a:p>
        </p:txBody>
      </p:sp>
    </p:spTree>
    <p:extLst>
      <p:ext uri="{BB962C8B-B14F-4D97-AF65-F5344CB8AC3E}">
        <p14:creationId xmlns:p14="http://schemas.microsoft.com/office/powerpoint/2010/main" val="2095577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sults / Analysis">
            <a:extLst>
              <a:ext uri="{FF2B5EF4-FFF2-40B4-BE49-F238E27FC236}">
                <a16:creationId xmlns:a16="http://schemas.microsoft.com/office/drawing/2014/main" id="{0A233A0B-AC23-4B87-8DAB-94DD3DD7DD87}"/>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Results / Analysis</a:t>
            </a:r>
          </a:p>
        </p:txBody>
      </p:sp>
      <p:sp>
        <p:nvSpPr>
          <p:cNvPr id="2" name="Rectangle 1">
            <a:extLst>
              <a:ext uri="{FF2B5EF4-FFF2-40B4-BE49-F238E27FC236}">
                <a16:creationId xmlns:a16="http://schemas.microsoft.com/office/drawing/2014/main" id="{C79912C7-63E9-47E8-B012-65BB16C9C564}"/>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Student and administrator login worked in the recorded local demonstration.</a:t>
            </a:r>
          </a:p>
          <a:p>
            <a:pPr marL="279400" indent="-152400" algn="l">
              <a:spcAft>
                <a:spcPts val="2200"/>
              </a:spcAft>
              <a:buChar char="•"/>
              <a:defRPr sz="2250" b="0">
                <a:solidFill>
                  <a:srgbClr val="000000"/>
                </a:solidFill>
                <a:latin typeface="Arial"/>
                <a:ea typeface="Arial"/>
                <a:cs typeface="Arial"/>
              </a:defRPr>
            </a:pPr>
            <a:r>
              <a:t>Search returned the DBMS notice. Saving added it to the saved-notices view.</a:t>
            </a:r>
          </a:p>
          <a:p>
            <a:pPr marL="279400" indent="-152400" algn="l">
              <a:spcAft>
                <a:spcPts val="2200"/>
              </a:spcAft>
              <a:buChar char="•"/>
              <a:defRPr sz="2250" b="0">
                <a:solidFill>
                  <a:srgbClr val="000000"/>
                </a:solidFill>
                <a:latin typeface="Arial"/>
                <a:ea typeface="Arial"/>
                <a:cs typeface="Arial"/>
              </a:defRPr>
            </a:pPr>
            <a:r>
              <a:t>The assistant returned a seminar notice with a source link.</a:t>
            </a:r>
          </a:p>
          <a:p>
            <a:pPr marL="279400" indent="-152400" algn="l">
              <a:spcAft>
                <a:spcPts val="2200"/>
              </a:spcAft>
              <a:buChar char="•"/>
              <a:defRPr sz="2250" b="0">
                <a:solidFill>
                  <a:srgbClr val="000000"/>
                </a:solidFill>
                <a:latin typeface="Arial"/>
                <a:ea typeface="Arial"/>
                <a:cs typeface="Arial"/>
              </a:defRPr>
            </a:pPr>
            <a:r>
              <a:t>Local translation produced Malayalam output, and the admin published a new notice.</a:t>
            </a:r>
          </a:p>
          <a:p>
            <a:pPr marL="279400" indent="-152400" algn="l">
              <a:spcAft>
                <a:spcPts val="2200"/>
              </a:spcAft>
              <a:buChar char="•"/>
              <a:defRPr sz="2250" b="0">
                <a:solidFill>
                  <a:srgbClr val="000000"/>
                </a:solidFill>
                <a:latin typeface="Arial"/>
                <a:ea typeface="Arial"/>
                <a:cs typeface="Arial"/>
              </a:defRPr>
            </a:pPr>
            <a:r>
              <a:t>All 61 automated tests passed. No project accuracy score or load benchmark is claimed.</a:t>
            </a:r>
          </a:p>
        </p:txBody>
      </p:sp>
      <p:sp>
        <p:nvSpPr>
          <p:cNvPr id="3" name="22">
            <a:extLst>
              <a:ext uri="{FF2B5EF4-FFF2-40B4-BE49-F238E27FC236}">
                <a16:creationId xmlns:a16="http://schemas.microsoft.com/office/drawing/2014/main" id="{4AA0C868-94B9-4C54-98D2-94ACAA08FB55}"/>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22</a:t>
            </a:r>
          </a:p>
        </p:txBody>
      </p:sp>
    </p:spTree>
    <p:extLst>
      <p:ext uri="{BB962C8B-B14F-4D97-AF65-F5344CB8AC3E}">
        <p14:creationId xmlns:p14="http://schemas.microsoft.com/office/powerpoint/2010/main" val="476765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creenshots / Output: Login">
            <a:extLst>
              <a:ext uri="{FF2B5EF4-FFF2-40B4-BE49-F238E27FC236}">
                <a16:creationId xmlns:a16="http://schemas.microsoft.com/office/drawing/2014/main" id="{C6836783-3994-4133-BDC7-46E38BD1F46D}"/>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Screenshots / Output: Login</a:t>
            </a:r>
          </a:p>
        </p:txBody>
      </p:sp>
      <p:pic>
        <p:nvPicPr>
          <p:cNvPr id="2" name="Picture 1">
            <a:extLst>
              <a:ext uri="{FF2B5EF4-FFF2-40B4-BE49-F238E27FC236}">
                <a16:creationId xmlns:a16="http://schemas.microsoft.com/office/drawing/2014/main" id="{6B697EAF-B73B-4E5B-AC00-3D3F06C154A9}"/>
              </a:ext>
            </a:extLst>
          </p:cNvPr>
          <p:cNvPicPr>
            <a:picLocks noChangeAspect="1"/>
          </p:cNvPicPr>
          <p:nvPr/>
        </p:nvPicPr>
        <p:blipFill>
          <a:blip r:embed="rId3"/>
          <a:stretch/>
        </p:blipFill>
        <p:spPr>
          <a:xfrm>
            <a:off x="1354667" y="1143000"/>
            <a:ext cx="9482667" cy="5334000"/>
          </a:xfrm>
          <a:prstGeom prst="rect">
            <a:avLst/>
          </a:prstGeom>
        </p:spPr>
      </p:pic>
      <p:sp>
        <p:nvSpPr>
          <p:cNvPr id="3" name="23">
            <a:extLst>
              <a:ext uri="{FF2B5EF4-FFF2-40B4-BE49-F238E27FC236}">
                <a16:creationId xmlns:a16="http://schemas.microsoft.com/office/drawing/2014/main" id="{30464F9E-0BE5-404B-9D9B-7AAE3C172DB7}"/>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23</a:t>
            </a:r>
          </a:p>
        </p:txBody>
      </p:sp>
    </p:spTree>
    <p:extLst>
      <p:ext uri="{BB962C8B-B14F-4D97-AF65-F5344CB8AC3E}">
        <p14:creationId xmlns:p14="http://schemas.microsoft.com/office/powerpoint/2010/main" val="219344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creenshots / Output: Notice Board">
            <a:extLst>
              <a:ext uri="{FF2B5EF4-FFF2-40B4-BE49-F238E27FC236}">
                <a16:creationId xmlns:a16="http://schemas.microsoft.com/office/drawing/2014/main" id="{ABEA785E-9662-4831-BB14-C459E2C09C6D}"/>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Screenshots / Output: Notice Board</a:t>
            </a:r>
          </a:p>
        </p:txBody>
      </p:sp>
      <p:pic>
        <p:nvPicPr>
          <p:cNvPr id="2" name="Picture 1">
            <a:extLst>
              <a:ext uri="{FF2B5EF4-FFF2-40B4-BE49-F238E27FC236}">
                <a16:creationId xmlns:a16="http://schemas.microsoft.com/office/drawing/2014/main" id="{412170C2-DE36-4E15-A79B-B5BF035AF608}"/>
              </a:ext>
            </a:extLst>
          </p:cNvPr>
          <p:cNvPicPr>
            <a:picLocks noChangeAspect="1"/>
          </p:cNvPicPr>
          <p:nvPr/>
        </p:nvPicPr>
        <p:blipFill>
          <a:blip r:embed="rId3"/>
          <a:stretch/>
        </p:blipFill>
        <p:spPr>
          <a:xfrm>
            <a:off x="1354667" y="1143000"/>
            <a:ext cx="9482667" cy="5334000"/>
          </a:xfrm>
          <a:prstGeom prst="rect">
            <a:avLst/>
          </a:prstGeom>
        </p:spPr>
      </p:pic>
      <p:sp>
        <p:nvSpPr>
          <p:cNvPr id="3" name="24">
            <a:extLst>
              <a:ext uri="{FF2B5EF4-FFF2-40B4-BE49-F238E27FC236}">
                <a16:creationId xmlns:a16="http://schemas.microsoft.com/office/drawing/2014/main" id="{6B1B669E-889D-43BE-8BAA-9EE9E34E32A0}"/>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24</a:t>
            </a:r>
          </a:p>
        </p:txBody>
      </p:sp>
    </p:spTree>
    <p:extLst>
      <p:ext uri="{BB962C8B-B14F-4D97-AF65-F5344CB8AC3E}">
        <p14:creationId xmlns:p14="http://schemas.microsoft.com/office/powerpoint/2010/main" val="13126721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creenshots / Output: Translation">
            <a:extLst>
              <a:ext uri="{FF2B5EF4-FFF2-40B4-BE49-F238E27FC236}">
                <a16:creationId xmlns:a16="http://schemas.microsoft.com/office/drawing/2014/main" id="{2741B623-33A5-4263-89B9-6A249247CE3D}"/>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Screenshots / Output: Translation</a:t>
            </a:r>
          </a:p>
        </p:txBody>
      </p:sp>
      <p:pic>
        <p:nvPicPr>
          <p:cNvPr id="2" name="Picture 1">
            <a:extLst>
              <a:ext uri="{FF2B5EF4-FFF2-40B4-BE49-F238E27FC236}">
                <a16:creationId xmlns:a16="http://schemas.microsoft.com/office/drawing/2014/main" id="{6DEF385C-021A-454F-A861-540A5D5662DD}"/>
              </a:ext>
            </a:extLst>
          </p:cNvPr>
          <p:cNvPicPr>
            <a:picLocks noChangeAspect="1"/>
          </p:cNvPicPr>
          <p:nvPr/>
        </p:nvPicPr>
        <p:blipFill>
          <a:blip r:embed="rId3"/>
          <a:stretch/>
        </p:blipFill>
        <p:spPr>
          <a:xfrm>
            <a:off x="1354667" y="1143000"/>
            <a:ext cx="9482667" cy="5334000"/>
          </a:xfrm>
          <a:prstGeom prst="rect">
            <a:avLst/>
          </a:prstGeom>
        </p:spPr>
      </p:pic>
      <p:sp>
        <p:nvSpPr>
          <p:cNvPr id="3" name="25">
            <a:extLst>
              <a:ext uri="{FF2B5EF4-FFF2-40B4-BE49-F238E27FC236}">
                <a16:creationId xmlns:a16="http://schemas.microsoft.com/office/drawing/2014/main" id="{1CF952C5-697C-4AE1-9167-A0820C9D170E}"/>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25</a:t>
            </a:r>
          </a:p>
        </p:txBody>
      </p:sp>
    </p:spTree>
    <p:extLst>
      <p:ext uri="{BB962C8B-B14F-4D97-AF65-F5344CB8AC3E}">
        <p14:creationId xmlns:p14="http://schemas.microsoft.com/office/powerpoint/2010/main" val="9961917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creenshots / Output: Publication">
            <a:extLst>
              <a:ext uri="{FF2B5EF4-FFF2-40B4-BE49-F238E27FC236}">
                <a16:creationId xmlns:a16="http://schemas.microsoft.com/office/drawing/2014/main" id="{817181BD-CED0-4B85-A9CD-5695242FBDCF}"/>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Screenshots / Output: Publication</a:t>
            </a:r>
          </a:p>
        </p:txBody>
      </p:sp>
      <p:pic>
        <p:nvPicPr>
          <p:cNvPr id="2" name="Picture 1">
            <a:extLst>
              <a:ext uri="{FF2B5EF4-FFF2-40B4-BE49-F238E27FC236}">
                <a16:creationId xmlns:a16="http://schemas.microsoft.com/office/drawing/2014/main" id="{E8D351F1-9E6A-4E2C-8738-0E1CB4774695}"/>
              </a:ext>
            </a:extLst>
          </p:cNvPr>
          <p:cNvPicPr>
            <a:picLocks noChangeAspect="1"/>
          </p:cNvPicPr>
          <p:nvPr/>
        </p:nvPicPr>
        <p:blipFill>
          <a:blip r:embed="rId3"/>
          <a:stretch/>
        </p:blipFill>
        <p:spPr>
          <a:xfrm>
            <a:off x="1354667" y="1143000"/>
            <a:ext cx="9482667" cy="5334000"/>
          </a:xfrm>
          <a:prstGeom prst="rect">
            <a:avLst/>
          </a:prstGeom>
        </p:spPr>
      </p:pic>
      <p:sp>
        <p:nvSpPr>
          <p:cNvPr id="3" name="26">
            <a:extLst>
              <a:ext uri="{FF2B5EF4-FFF2-40B4-BE49-F238E27FC236}">
                <a16:creationId xmlns:a16="http://schemas.microsoft.com/office/drawing/2014/main" id="{3E8753F3-5C3D-47B5-99DB-73FDA4F9C3E7}"/>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26</a:t>
            </a:r>
          </a:p>
        </p:txBody>
      </p:sp>
    </p:spTree>
    <p:extLst>
      <p:ext uri="{BB962C8B-B14F-4D97-AF65-F5344CB8AC3E}">
        <p14:creationId xmlns:p14="http://schemas.microsoft.com/office/powerpoint/2010/main" val="2107148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omparison with Existing System">
            <a:extLst>
              <a:ext uri="{FF2B5EF4-FFF2-40B4-BE49-F238E27FC236}">
                <a16:creationId xmlns:a16="http://schemas.microsoft.com/office/drawing/2014/main" id="{AD883735-41FA-4A4F-931D-1CE9CCE970D1}"/>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Comparison with Existing System</a:t>
            </a:r>
          </a:p>
        </p:txBody>
      </p:sp>
      <p:graphicFrame>
        <p:nvGraphicFramePr>
          <p:cNvPr id="2" name="Table 1">
            <a:extLst>
              <a:ext uri="{FF2B5EF4-FFF2-40B4-BE49-F238E27FC236}">
                <a16:creationId xmlns:a16="http://schemas.microsoft.com/office/drawing/2014/main" id="{C5449027-70C4-4E41-A6CD-51C949DA88F0}"/>
              </a:ext>
            </a:extLst>
          </p:cNvPr>
          <p:cNvGraphicFramePr/>
          <p:nvPr/>
        </p:nvGraphicFramePr>
        <p:xfrm>
          <a:off x="609600" y="1428750"/>
          <a:ext cx="10972800" cy="4476750"/>
        </p:xfrm>
        <a:graphic>
          <a:graphicData uri="http://schemas.openxmlformats.org/drawingml/2006/table">
            <a:tbl>
              <a:tblPr/>
              <a:tblGrid>
                <a:gridCol w="192405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gridCol w="4781550">
                  <a:extLst>
                    <a:ext uri="{9D8B030D-6E8A-4147-A177-3AD203B41FA5}">
                      <a16:colId xmlns:a16="http://schemas.microsoft.com/office/drawing/2014/main" val="20002"/>
                    </a:ext>
                  </a:extLst>
                </a:gridCol>
              </a:tblGrid>
              <a:tr h="746125">
                <a:tc>
                  <a:txBody>
                    <a:bodyPr/>
                    <a:lstStyle/>
                    <a:p>
                      <a:r>
                        <a:rPr sz="1650" b="1">
                          <a:solidFill>
                            <a:srgbClr val="000000"/>
                          </a:solidFill>
                          <a:latin typeface="Arial"/>
                          <a:ea typeface="Arial"/>
                          <a:cs typeface="Arial"/>
                        </a:rPr>
                        <a:t>Feature</a:t>
                      </a:r>
                    </a:p>
                  </a:txBody>
                  <a:tcPr marL="123825" marR="123825" marT="114300" marB="95250" anchor="ctr">
                    <a:lnL w="7620">
                      <a:solidFill>
                        <a:srgbClr val="000000"/>
                      </a:solidFill>
                      <a:prstDash val="solid"/>
                    </a:lnL>
                    <a:lnR w="7620">
                      <a:solidFill>
                        <a:srgbClr val="000000"/>
                      </a:solidFill>
                      <a:prstDash val="solid"/>
                    </a:lnR>
                    <a:lnT w="7620">
                      <a:solidFill>
                        <a:srgbClr val="000000"/>
                      </a:solidFill>
                      <a:prstDash val="solid"/>
                    </a:lnT>
                    <a:lnB w="7620">
                      <a:solidFill>
                        <a:srgbClr val="000000"/>
                      </a:solidFill>
                      <a:prstDash val="solid"/>
                    </a:lnB>
                    <a:solidFill>
                      <a:srgbClr val="FFFFFF"/>
                    </a:solidFill>
                  </a:tcPr>
                </a:tc>
                <a:tc>
                  <a:txBody>
                    <a:bodyPr/>
                    <a:lstStyle/>
                    <a:p>
                      <a:r>
                        <a:rPr sz="1650" b="1">
                          <a:solidFill>
                            <a:srgbClr val="000000"/>
                          </a:solidFill>
                          <a:latin typeface="Arial"/>
                          <a:ea typeface="Arial"/>
                          <a:cs typeface="Arial"/>
                        </a:rPr>
                        <a:t>Physical boards / informal groups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a:solidFill>
                        <a:srgbClr val="000000"/>
                      </a:solidFill>
                      <a:prstDash val="solid"/>
                    </a:lnT>
                    <a:lnB w="7620">
                      <a:solidFill>
                        <a:srgbClr val="000000"/>
                      </a:solidFill>
                      <a:prstDash val="solid"/>
                    </a:lnB>
                    <a:solidFill>
                      <a:srgbClr val="FFFFFF"/>
                    </a:solidFill>
                  </a:tcPr>
                </a:tc>
                <a:tc>
                  <a:txBody>
                    <a:bodyPr/>
                    <a:lstStyle/>
                    <a:p>
                      <a:r>
                        <a:rPr sz="1650" b="1">
                          <a:solidFill>
                            <a:srgbClr val="000000"/>
                          </a:solidFill>
                          <a:latin typeface="Arial"/>
                          <a:ea typeface="Arial"/>
                          <a:cs typeface="Arial"/>
                        </a:rPr>
                        <a:t>CollegeNotice prototype</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a:solidFill>
                        <a:srgbClr val="000000"/>
                      </a:solidFill>
                      <a:prstDash val="solid"/>
                    </a:lnT>
                    <a:lnB w="7620">
                      <a:solidFill>
                        <a:srgbClr val="000000"/>
                      </a:solidFill>
                      <a:prstDash val="solid"/>
                    </a:lnB>
                    <a:solidFill>
                      <a:srgbClr val="FFFFFF"/>
                    </a:solidFill>
                  </a:tcPr>
                </a:tc>
                <a:extLst>
                  <a:ext uri="{0D108BD9-81ED-4DB2-BD59-A6C34878D82A}">
                    <a16:rowId xmlns:a16="http://schemas.microsoft.com/office/drawing/2014/main" val="10000"/>
                  </a:ext>
                </a:extLst>
              </a:tr>
              <a:tr h="746125">
                <a:tc>
                  <a:txBody>
                    <a:bodyPr/>
                    <a:lstStyle/>
                    <a:p>
                      <a:r>
                        <a:rPr sz="1650">
                          <a:solidFill>
                            <a:srgbClr val="000000"/>
                          </a:solidFill>
                          <a:latin typeface="Arial"/>
                          <a:ea typeface="Arial"/>
                          <a:cs typeface="Arial"/>
                        </a:rPr>
                        <a:t>Processing</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Manual distribution and removal</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Online publishing, expiry checks and archive</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1"/>
                  </a:ext>
                </a:extLst>
              </a:tr>
              <a:tr h="746125">
                <a:tc>
                  <a:txBody>
                    <a:bodyPr/>
                    <a:lstStyle/>
                    <a:p>
                      <a:r>
                        <a:rPr sz="1650">
                          <a:solidFill>
                            <a:srgbClr val="000000"/>
                          </a:solidFill>
                          <a:latin typeface="Arial"/>
                          <a:ea typeface="Arial"/>
                          <a:cs typeface="Arial"/>
                        </a:rPr>
                        <a:t>Finding notices</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Browse boards or message history</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Keyword, department, date and category filters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2"/>
                  </a:ext>
                </a:extLst>
              </a:tr>
              <a:tr h="746125">
                <a:tc>
                  <a:txBody>
                    <a:bodyPr/>
                    <a:lstStyle/>
                    <a:p>
                      <a:r>
                        <a:rPr sz="1650">
                          <a:solidFill>
                            <a:srgbClr val="000000"/>
                          </a:solidFill>
                          <a:latin typeface="Arial"/>
                          <a:ea typeface="Arial"/>
                          <a:cs typeface="Arial"/>
                        </a:rPr>
                        <a:t>Access control</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Channel-dependent permissions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Server-enforced roles and department write rules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3"/>
                  </a:ext>
                </a:extLst>
              </a:tr>
              <a:tr h="746125">
                <a:tc>
                  <a:txBody>
                    <a:bodyPr/>
                    <a:lstStyle/>
                    <a:p>
                      <a:r>
                        <a:rPr sz="1650">
                          <a:solidFill>
                            <a:srgbClr val="000000"/>
                          </a:solidFill>
                          <a:latin typeface="Arial"/>
                          <a:ea typeface="Arial"/>
                          <a:cs typeface="Arial"/>
                        </a:rPr>
                        <a:t>Accessibility</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Board location or group membership</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Browser access while the server is reachable</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4"/>
                  </a:ext>
                </a:extLst>
              </a:tr>
              <a:tr h="746125">
                <a:tc>
                  <a:txBody>
                    <a:bodyPr/>
                    <a:lstStyle/>
                    <a:p>
                      <a:r>
                        <a:rPr sz="1650">
                          <a:solidFill>
                            <a:srgbClr val="000000"/>
                          </a:solidFill>
                          <a:latin typeface="Arial"/>
                          <a:ea typeface="Arial"/>
                          <a:cs typeface="Arial"/>
                        </a:rPr>
                        <a:t>Reporting</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Separate manual records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650">
                          <a:solidFill>
                            <a:srgbClr val="000000"/>
                          </a:solidFill>
                          <a:latin typeface="Arial"/>
                          <a:ea typeface="Arial"/>
                          <a:cs typeface="Arial"/>
                        </a:rPr>
                        <a:t>Dashboard, activity log and CSV export</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27">
            <a:extLst>
              <a:ext uri="{FF2B5EF4-FFF2-40B4-BE49-F238E27FC236}">
                <a16:creationId xmlns:a16="http://schemas.microsoft.com/office/drawing/2014/main" id="{28AC6316-2AB6-41A9-8325-7AF287D634BE}"/>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27</a:t>
            </a:r>
          </a:p>
        </p:txBody>
      </p:sp>
    </p:spTree>
    <p:extLst>
      <p:ext uri="{BB962C8B-B14F-4D97-AF65-F5344CB8AC3E}">
        <p14:creationId xmlns:p14="http://schemas.microsoft.com/office/powerpoint/2010/main" val="10661995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esting">
            <a:extLst>
              <a:ext uri="{FF2B5EF4-FFF2-40B4-BE49-F238E27FC236}">
                <a16:creationId xmlns:a16="http://schemas.microsoft.com/office/drawing/2014/main" id="{29C66D23-ADC2-486F-8AC4-4D62BA6B47D2}"/>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Testing</a:t>
            </a:r>
          </a:p>
        </p:txBody>
      </p:sp>
      <p:graphicFrame>
        <p:nvGraphicFramePr>
          <p:cNvPr id="2" name="Table 1">
            <a:extLst>
              <a:ext uri="{FF2B5EF4-FFF2-40B4-BE49-F238E27FC236}">
                <a16:creationId xmlns:a16="http://schemas.microsoft.com/office/drawing/2014/main" id="{46A46F15-7C27-4B9D-8E50-6A446CA46A97}"/>
              </a:ext>
            </a:extLst>
          </p:cNvPr>
          <p:cNvGraphicFramePr/>
          <p:nvPr/>
        </p:nvGraphicFramePr>
        <p:xfrm>
          <a:off x="609600" y="1428750"/>
          <a:ext cx="10972800" cy="4191000"/>
        </p:xfrm>
        <a:graphic>
          <a:graphicData uri="http://schemas.openxmlformats.org/drawingml/2006/table">
            <a:tbl>
              <a:tblPr/>
              <a:tblGrid>
                <a:gridCol w="233362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4067175">
                  <a:extLst>
                    <a:ext uri="{9D8B030D-6E8A-4147-A177-3AD203B41FA5}">
                      <a16:colId xmlns:a16="http://schemas.microsoft.com/office/drawing/2014/main" val="20002"/>
                    </a:ext>
                  </a:extLst>
                </a:gridCol>
                <a:gridCol w="1333500">
                  <a:extLst>
                    <a:ext uri="{9D8B030D-6E8A-4147-A177-3AD203B41FA5}">
                      <a16:colId xmlns:a16="http://schemas.microsoft.com/office/drawing/2014/main" val="20003"/>
                    </a:ext>
                  </a:extLst>
                </a:gridCol>
              </a:tblGrid>
              <a:tr h="698500">
                <a:tc>
                  <a:txBody>
                    <a:bodyPr/>
                    <a:lstStyle/>
                    <a:p>
                      <a:r>
                        <a:rPr sz="1575" b="1">
                          <a:solidFill>
                            <a:srgbClr val="000000"/>
                          </a:solidFill>
                          <a:latin typeface="Arial"/>
                          <a:ea typeface="Arial"/>
                          <a:cs typeface="Arial"/>
                        </a:rPr>
                        <a:t>Test case</a:t>
                      </a:r>
                    </a:p>
                  </a:txBody>
                  <a:tcPr marL="123825" marR="123825" marT="114300" marB="95250" anchor="ctr">
                    <a:lnL w="7620">
                      <a:solidFill>
                        <a:srgbClr val="000000"/>
                      </a:solidFill>
                      <a:prstDash val="solid"/>
                    </a:lnL>
                    <a:lnR w="7620">
                      <a:solidFill>
                        <a:srgbClr val="000000"/>
                      </a:solidFill>
                      <a:prstDash val="solid"/>
                    </a:lnR>
                    <a:lnT w="7620">
                      <a:solidFill>
                        <a:srgbClr val="000000"/>
                      </a:solidFill>
                      <a:prstDash val="solid"/>
                    </a:lnT>
                    <a:lnB w="7620">
                      <a:solidFill>
                        <a:srgbClr val="000000"/>
                      </a:solidFill>
                      <a:prstDash val="solid"/>
                    </a:lnB>
                    <a:solidFill>
                      <a:srgbClr val="FFFFFF"/>
                    </a:solidFill>
                  </a:tcPr>
                </a:tc>
                <a:tc>
                  <a:txBody>
                    <a:bodyPr/>
                    <a:lstStyle/>
                    <a:p>
                      <a:r>
                        <a:rPr sz="1575" b="1">
                          <a:solidFill>
                            <a:srgbClr val="000000"/>
                          </a:solidFill>
                          <a:latin typeface="Arial"/>
                          <a:ea typeface="Arial"/>
                          <a:cs typeface="Arial"/>
                        </a:rPr>
                        <a:t>Expected result</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a:solidFill>
                        <a:srgbClr val="000000"/>
                      </a:solidFill>
                      <a:prstDash val="solid"/>
                    </a:lnT>
                    <a:lnB w="7620">
                      <a:solidFill>
                        <a:srgbClr val="000000"/>
                      </a:solidFill>
                      <a:prstDash val="solid"/>
                    </a:lnB>
                    <a:solidFill>
                      <a:srgbClr val="FFFFFF"/>
                    </a:solidFill>
                  </a:tcPr>
                </a:tc>
                <a:tc>
                  <a:txBody>
                    <a:bodyPr/>
                    <a:lstStyle/>
                    <a:p>
                      <a:r>
                        <a:rPr sz="1575" b="1">
                          <a:solidFill>
                            <a:srgbClr val="000000"/>
                          </a:solidFill>
                          <a:latin typeface="Arial"/>
                          <a:ea typeface="Arial"/>
                          <a:cs typeface="Arial"/>
                        </a:rPr>
                        <a:t>Actual result</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a:solidFill>
                        <a:srgbClr val="000000"/>
                      </a:solidFill>
                      <a:prstDash val="solid"/>
                    </a:lnT>
                    <a:lnB w="7620">
                      <a:solidFill>
                        <a:srgbClr val="000000"/>
                      </a:solidFill>
                      <a:prstDash val="solid"/>
                    </a:lnB>
                    <a:solidFill>
                      <a:srgbClr val="FFFFFF"/>
                    </a:solidFill>
                  </a:tcPr>
                </a:tc>
                <a:tc>
                  <a:txBody>
                    <a:bodyPr/>
                    <a:lstStyle/>
                    <a:p>
                      <a:r>
                        <a:rPr sz="1575" b="1">
                          <a:solidFill>
                            <a:srgbClr val="000000"/>
                          </a:solidFill>
                          <a:latin typeface="Arial"/>
                          <a:ea typeface="Arial"/>
                          <a:cs typeface="Arial"/>
                        </a:rPr>
                        <a:t>Status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a:solidFill>
                        <a:srgbClr val="000000"/>
                      </a:solidFill>
                      <a:prstDash val="solid"/>
                    </a:lnT>
                    <a:lnB w="7620">
                      <a:solidFill>
                        <a:srgbClr val="000000"/>
                      </a:solidFill>
                      <a:prstDash val="solid"/>
                    </a:lnB>
                    <a:solidFill>
                      <a:srgbClr val="FFFFFF"/>
                    </a:solidFill>
                  </a:tcPr>
                </a:tc>
                <a:extLst>
                  <a:ext uri="{0D108BD9-81ED-4DB2-BD59-A6C34878D82A}">
                    <a16:rowId xmlns:a16="http://schemas.microsoft.com/office/drawing/2014/main" val="10000"/>
                  </a:ext>
                </a:extLst>
              </a:tr>
              <a:tr h="698500">
                <a:tc>
                  <a:txBody>
                    <a:bodyPr/>
                    <a:lstStyle/>
                    <a:p>
                      <a:r>
                        <a:rPr sz="1575">
                          <a:solidFill>
                            <a:srgbClr val="000000"/>
                          </a:solidFill>
                          <a:latin typeface="Arial"/>
                          <a:ea typeface="Arial"/>
                          <a:cs typeface="Arial"/>
                        </a:rPr>
                        <a:t>Authenticated access</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Valid user enters the workspace</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Login and workspace verified</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Pass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1"/>
                  </a:ext>
                </a:extLst>
              </a:tr>
              <a:tr h="698500">
                <a:tc>
                  <a:txBody>
                    <a:bodyPr/>
                    <a:lstStyle/>
                    <a:p>
                      <a:r>
                        <a:rPr sz="1575">
                          <a:solidFill>
                            <a:srgbClr val="000000"/>
                          </a:solidFill>
                          <a:latin typeface="Arial"/>
                          <a:ea typeface="Arial"/>
                          <a:cs typeface="Arial"/>
                        </a:rPr>
                        <a:t>Role permissions</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Student cannot publish notices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Automated write-denial checks pass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Pass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2"/>
                  </a:ext>
                </a:extLst>
              </a:tr>
              <a:tr h="698500">
                <a:tc>
                  <a:txBody>
                    <a:bodyPr/>
                    <a:lstStyle/>
                    <a:p>
                      <a:r>
                        <a:rPr sz="1575">
                          <a:solidFill>
                            <a:srgbClr val="000000"/>
                          </a:solidFill>
                          <a:latin typeface="Arial"/>
                          <a:ea typeface="Arial"/>
                          <a:cs typeface="Arial"/>
                        </a:rPr>
                        <a:t>Search and bookmarks</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Matching notice and saved record</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Verified through browser workflow</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Pass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3"/>
                  </a:ext>
                </a:extLst>
              </a:tr>
              <a:tr h="698500">
                <a:tc>
                  <a:txBody>
                    <a:bodyPr/>
                    <a:lstStyle/>
                    <a:p>
                      <a:r>
                        <a:rPr sz="1575">
                          <a:solidFill>
                            <a:srgbClr val="000000"/>
                          </a:solidFill>
                          <a:latin typeface="Arial"/>
                          <a:ea typeface="Arial"/>
                          <a:cs typeface="Arial"/>
                        </a:rPr>
                        <a:t>Expiry and archive</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Inactive notices leave active results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Automated lifecycle checks pass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Pass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4"/>
                  </a:ext>
                </a:extLst>
              </a:tr>
              <a:tr h="698500">
                <a:tc>
                  <a:txBody>
                    <a:bodyPr/>
                    <a:lstStyle/>
                    <a:p>
                      <a:r>
                        <a:rPr sz="1575">
                          <a:solidFill>
                            <a:srgbClr val="000000"/>
                          </a:solidFill>
                          <a:latin typeface="Arial"/>
                          <a:ea typeface="Arial"/>
                          <a:cs typeface="Arial"/>
                        </a:rPr>
                        <a:t>Language and sources</a:t>
                      </a:r>
                    </a:p>
                  </a:txBody>
                  <a:tcPr marL="123825" marR="123825" marT="114300" marB="95250" anchor="ctr">
                    <a:lnL w="7620">
                      <a:solidFill>
                        <a:srgbClr val="000000"/>
                      </a:solidFill>
                      <a:prstDash val="soli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Local translation and notice sources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Browser and automated checks pass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tc>
                  <a:txBody>
                    <a:bodyPr/>
                    <a:lstStyle/>
                    <a:p>
                      <a:r>
                        <a:rPr sz="1575">
                          <a:solidFill>
                            <a:srgbClr val="000000"/>
                          </a:solidFill>
                          <a:latin typeface="Arial"/>
                          <a:ea typeface="Arial"/>
                          <a:cs typeface="Arial"/>
                        </a:rPr>
                        <a:t>Pass</a:t>
                      </a:r>
                    </a:p>
                  </a:txBody>
                  <a:tcPr marL="123825" marR="123825" marT="114300" marB="95250" anchor="ctr">
                    <a:lnL w="7620" cap="flat" cmpd="sng" algn="ctr">
                      <a:solidFill>
                        <a:srgbClr val="000000"/>
                      </a:solidFill>
                      <a:prstDash val="solid"/>
                      <a:round/>
                      <a:headEnd type="none" w="med" len="med"/>
                      <a:tailEnd type="none" w="med" len="med"/>
                    </a:lnL>
                    <a:lnR w="7620">
                      <a:solidFill>
                        <a:srgbClr val="000000"/>
                      </a:solidFill>
                      <a:prstDash val="solid"/>
                    </a:lnR>
                    <a:lnT w="7620" cap="flat" cmpd="sng" algn="ctr">
                      <a:solidFill>
                        <a:srgbClr val="000000"/>
                      </a:solidFill>
                      <a:prstDash val="solid"/>
                      <a:round/>
                      <a:headEnd type="none" w="med" len="med"/>
                      <a:tailEnd type="none" w="med" len="med"/>
                    </a:lnT>
                    <a:lnB w="7620">
                      <a:solidFill>
                        <a:srgbClr val="000000"/>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3" name="Method: automated unit/API tests and a browser system walkth">
            <a:extLst>
              <a:ext uri="{FF2B5EF4-FFF2-40B4-BE49-F238E27FC236}">
                <a16:creationId xmlns:a16="http://schemas.microsoft.com/office/drawing/2014/main" id="{721A3FFB-00A0-446E-81D9-7A0CCAA991B7}"/>
              </a:ext>
            </a:extLst>
          </p:cNvPr>
          <p:cNvSpPr>
            <a:spLocks noGrp="1"/>
          </p:cNvSpPr>
          <p:nvPr/>
        </p:nvSpPr>
        <p:spPr>
          <a:xfrm>
            <a:off x="609600" y="6115050"/>
            <a:ext cx="10858500" cy="419100"/>
          </a:xfrm>
          <a:prstGeom prst="rect">
            <a:avLst/>
          </a:prstGeom>
          <a:noFill/>
          <a:ln w="0">
            <a:noFill/>
          </a:ln>
        </p:spPr>
        <p:txBody>
          <a:bodyPr lIns="0" tIns="0" rIns="0" bIns="0" anchor="t">
            <a:noAutofit/>
          </a:bodyPr>
          <a:lstStyle>
            <a:defPPr algn="l">
              <a:defRPr sz="1425" b="0">
                <a:solidFill>
                  <a:srgbClr val="000000"/>
                </a:solidFill>
                <a:latin typeface="Arial"/>
                <a:ea typeface="Arial"/>
                <a:cs typeface="Arial"/>
              </a:defRPr>
            </a:defPPr>
          </a:lstStyle>
          <a:p>
            <a:pPr algn="l">
              <a:defRPr sz="1425" b="0">
                <a:solidFill>
                  <a:srgbClr val="000000"/>
                </a:solidFill>
                <a:latin typeface="Arial"/>
                <a:ea typeface="Arial"/>
                <a:cs typeface="Arial"/>
              </a:defRPr>
            </a:pPr>
            <a:r>
              <a:rPr sz="1425" b="0" dirty="0">
                <a:solidFill>
                  <a:srgbClr val="000000"/>
                </a:solidFill>
                <a:latin typeface="Arial"/>
                <a:ea typeface="Arial"/>
                <a:cs typeface="Arial"/>
              </a:rPr>
              <a:t>Method: automated unit/API tests and a browser system walkthrough. Formal user acceptance testing is pending.</a:t>
            </a:r>
          </a:p>
        </p:txBody>
      </p:sp>
      <p:sp>
        <p:nvSpPr>
          <p:cNvPr id="4" name="28">
            <a:extLst>
              <a:ext uri="{FF2B5EF4-FFF2-40B4-BE49-F238E27FC236}">
                <a16:creationId xmlns:a16="http://schemas.microsoft.com/office/drawing/2014/main" id="{F708F1D3-ED43-47E9-8B72-A89FC3254A75}"/>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28</a:t>
            </a:r>
          </a:p>
        </p:txBody>
      </p:sp>
    </p:spTree>
    <p:extLst>
      <p:ext uri="{BB962C8B-B14F-4D97-AF65-F5344CB8AC3E}">
        <p14:creationId xmlns:p14="http://schemas.microsoft.com/office/powerpoint/2010/main" val="1039474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Demo Video">
            <a:extLst>
              <a:ext uri="{FF2B5EF4-FFF2-40B4-BE49-F238E27FC236}">
                <a16:creationId xmlns:a16="http://schemas.microsoft.com/office/drawing/2014/main" id="{D94008C8-C386-423E-BFAF-CE4401B54542}"/>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Demo Video</a:t>
            </a:r>
          </a:p>
        </p:txBody>
      </p:sp>
      <p:sp>
        <p:nvSpPr>
          <p:cNvPr id="3" name="Click the recording to play the 1-minute demonstration">
            <a:extLst>
              <a:ext uri="{FF2B5EF4-FFF2-40B4-BE49-F238E27FC236}">
                <a16:creationId xmlns:a16="http://schemas.microsoft.com/office/drawing/2014/main" id="{141F6CAA-1343-4651-B348-6EACFEB172E3}"/>
              </a:ext>
            </a:extLst>
          </p:cNvPr>
          <p:cNvSpPr>
            <a:spLocks noGrp="1"/>
          </p:cNvSpPr>
          <p:nvPr/>
        </p:nvSpPr>
        <p:spPr>
          <a:xfrm>
            <a:off x="1428750" y="6191250"/>
            <a:ext cx="9334500" cy="314325"/>
          </a:xfrm>
          <a:prstGeom prst="rect">
            <a:avLst/>
          </a:prstGeom>
          <a:noFill/>
          <a:ln w="0">
            <a:noFill/>
          </a:ln>
        </p:spPr>
        <p:txBody>
          <a:bodyPr lIns="0" tIns="0" rIns="0" bIns="0" anchor="t">
            <a:noAutofit/>
          </a:bodyPr>
          <a:lstStyle>
            <a:defPPr algn="ctr">
              <a:defRPr sz="1800" b="0">
                <a:solidFill>
                  <a:srgbClr val="000000"/>
                </a:solidFill>
                <a:latin typeface="Arial"/>
                <a:ea typeface="Arial"/>
                <a:cs typeface="Arial"/>
              </a:defRPr>
            </a:defPPr>
          </a:lstStyle>
          <a:p>
            <a:pPr algn="ctr">
              <a:defRPr sz="1800" b="0">
                <a:solidFill>
                  <a:srgbClr val="000000"/>
                </a:solidFill>
                <a:latin typeface="Arial"/>
                <a:ea typeface="Arial"/>
                <a:cs typeface="Arial"/>
              </a:defRPr>
            </a:pPr>
            <a:r>
              <a:rPr sz="1800" b="0" dirty="0">
                <a:solidFill>
                  <a:srgbClr val="000000"/>
                </a:solidFill>
                <a:latin typeface="Arial"/>
                <a:ea typeface="Arial"/>
                <a:cs typeface="Arial"/>
              </a:rPr>
              <a:t>Click the recording to play the 1-minute demonstration</a:t>
            </a:r>
          </a:p>
        </p:txBody>
      </p:sp>
      <p:sp>
        <p:nvSpPr>
          <p:cNvPr id="4" name="29">
            <a:extLst>
              <a:ext uri="{FF2B5EF4-FFF2-40B4-BE49-F238E27FC236}">
                <a16:creationId xmlns:a16="http://schemas.microsoft.com/office/drawing/2014/main" id="{4193F693-A34C-4F29-9799-FD4E44CA118A}"/>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29</a:t>
            </a:r>
          </a:p>
        </p:txBody>
      </p:sp>
      <p:pic>
        <p:nvPicPr>
          <p:cNvPr id="8" name="CollegeNotice_1min_demo">
            <a:hlinkClick r:id="" action="ppaction://media"/>
            <a:extLst>
              <a:ext uri="{FF2B5EF4-FFF2-40B4-BE49-F238E27FC236}">
                <a16:creationId xmlns:a16="http://schemas.microsoft.com/office/drawing/2014/main" id="{966B4D88-5884-E98B-11DF-E47060CE1CC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09151" y="1299087"/>
            <a:ext cx="9645445" cy="5425563"/>
          </a:xfrm>
          <a:prstGeom prst="rect">
            <a:avLst/>
          </a:prstGeom>
        </p:spPr>
      </p:pic>
    </p:spTree>
    <p:extLst>
      <p:ext uri="{BB962C8B-B14F-4D97-AF65-F5344CB8AC3E}">
        <p14:creationId xmlns:p14="http://schemas.microsoft.com/office/powerpoint/2010/main" val="599386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0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Advantages">
            <a:extLst>
              <a:ext uri="{FF2B5EF4-FFF2-40B4-BE49-F238E27FC236}">
                <a16:creationId xmlns:a16="http://schemas.microsoft.com/office/drawing/2014/main" id="{B22F095B-3CBA-4651-89CB-DF03CADFB8AF}"/>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Advantages</a:t>
            </a:r>
          </a:p>
        </p:txBody>
      </p:sp>
      <p:sp>
        <p:nvSpPr>
          <p:cNvPr id="2" name="Rectangle 1">
            <a:extLst>
              <a:ext uri="{FF2B5EF4-FFF2-40B4-BE49-F238E27FC236}">
                <a16:creationId xmlns:a16="http://schemas.microsoft.com/office/drawing/2014/main" id="{E6B8A59E-A76D-4706-BE5C-B3E76E01D53F}"/>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Students can revisit important announcements through bookmarks and search.</a:t>
            </a:r>
          </a:p>
          <a:p>
            <a:pPr marL="279400" indent="-152400" algn="l">
              <a:spcAft>
                <a:spcPts val="2200"/>
              </a:spcAft>
              <a:buChar char="•"/>
              <a:defRPr sz="2250" b="0">
                <a:solidFill>
                  <a:srgbClr val="000000"/>
                </a:solidFill>
                <a:latin typeface="Arial"/>
                <a:ea typeface="Arial"/>
                <a:cs typeface="Arial"/>
              </a:defRPr>
            </a:pPr>
            <a:r>
              <a:t>Department controls support accountable publishing and updates.</a:t>
            </a:r>
          </a:p>
          <a:p>
            <a:pPr marL="279400" indent="-152400" algn="l">
              <a:spcAft>
                <a:spcPts val="2200"/>
              </a:spcAft>
              <a:buChar char="•"/>
              <a:defRPr sz="2250" b="0">
                <a:solidFill>
                  <a:srgbClr val="000000"/>
                </a:solidFill>
                <a:latin typeface="Arial"/>
                <a:ea typeface="Arial"/>
                <a:cs typeface="Arial"/>
              </a:defRPr>
            </a:pPr>
            <a:r>
              <a:t>Expiry filtering reduces clutter from outdated notices.</a:t>
            </a:r>
          </a:p>
          <a:p>
            <a:pPr marL="279400" indent="-152400" algn="l">
              <a:spcAft>
                <a:spcPts val="2200"/>
              </a:spcAft>
              <a:buChar char="•"/>
              <a:defRPr sz="2250" b="0">
                <a:solidFill>
                  <a:srgbClr val="000000"/>
                </a:solidFill>
                <a:latin typeface="Arial"/>
                <a:ea typeface="Arial"/>
                <a:cs typeface="Arial"/>
              </a:defRPr>
            </a:pPr>
            <a:r>
              <a:t>Local translation supports English and Malayalam without a paid translation API.</a:t>
            </a:r>
          </a:p>
          <a:p>
            <a:pPr marL="279400" indent="-152400" algn="l">
              <a:spcAft>
                <a:spcPts val="2200"/>
              </a:spcAft>
              <a:buChar char="•"/>
              <a:defRPr sz="2250" b="0">
                <a:solidFill>
                  <a:srgbClr val="000000"/>
                </a:solidFill>
                <a:latin typeface="Arial"/>
                <a:ea typeface="Arial"/>
                <a:cs typeface="Arial"/>
              </a:defRPr>
            </a:pPr>
            <a:r>
              <a:t>Reports and activity records support administrative review.</a:t>
            </a:r>
          </a:p>
        </p:txBody>
      </p:sp>
      <p:sp>
        <p:nvSpPr>
          <p:cNvPr id="3" name="30">
            <a:extLst>
              <a:ext uri="{FF2B5EF4-FFF2-40B4-BE49-F238E27FC236}">
                <a16:creationId xmlns:a16="http://schemas.microsoft.com/office/drawing/2014/main" id="{9365B55D-F152-414D-B756-E5441B260430}"/>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30</a:t>
            </a:r>
          </a:p>
        </p:txBody>
      </p:sp>
    </p:spTree>
    <p:extLst>
      <p:ext uri="{BB962C8B-B14F-4D97-AF65-F5344CB8AC3E}">
        <p14:creationId xmlns:p14="http://schemas.microsoft.com/office/powerpoint/2010/main" val="188597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Limitations">
            <a:extLst>
              <a:ext uri="{FF2B5EF4-FFF2-40B4-BE49-F238E27FC236}">
                <a16:creationId xmlns:a16="http://schemas.microsoft.com/office/drawing/2014/main" id="{AADE8825-CDFC-424F-9FC3-AFDE05DC13A9}"/>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Limitations</a:t>
            </a:r>
          </a:p>
        </p:txBody>
      </p:sp>
      <p:sp>
        <p:nvSpPr>
          <p:cNvPr id="2" name="Rectangle 1">
            <a:extLst>
              <a:ext uri="{FF2B5EF4-FFF2-40B4-BE49-F238E27FC236}">
                <a16:creationId xmlns:a16="http://schemas.microsoft.com/office/drawing/2014/main" id="{5695695E-910D-4247-92FE-B94338884D5A}"/>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The current demonstration uses SQLite and immediate task execution.</a:t>
            </a:r>
          </a:p>
          <a:p>
            <a:pPr marL="279400" indent="-152400" algn="l">
              <a:spcAft>
                <a:spcPts val="2200"/>
              </a:spcAft>
              <a:buChar char="•"/>
              <a:defRPr sz="2250" b="0">
                <a:solidFill>
                  <a:srgbClr val="000000"/>
                </a:solidFill>
                <a:latin typeface="Arial"/>
                <a:ea typeface="Arial"/>
                <a:cs typeface="Arial"/>
              </a:defRPr>
            </a:pPr>
            <a:r>
              <a:t>Docker, PostgreSQL, Redis and distributed workers need integration validation.</a:t>
            </a:r>
          </a:p>
          <a:p>
            <a:pPr marL="279400" indent="-152400" algn="l">
              <a:spcAft>
                <a:spcPts val="2200"/>
              </a:spcAft>
              <a:buChar char="•"/>
              <a:defRPr sz="2250" b="0">
                <a:solidFill>
                  <a:srgbClr val="000000"/>
                </a:solidFill>
                <a:latin typeface="Arial"/>
                <a:ea typeface="Arial"/>
                <a:cs typeface="Arial"/>
              </a:defRPr>
            </a:pPr>
            <a:r>
              <a:t>Notifications poll every 10 seconds. Real SMTP delivery was not tested in this demo.</a:t>
            </a:r>
          </a:p>
          <a:p>
            <a:pPr marL="279400" indent="-152400" algn="l">
              <a:spcAft>
                <a:spcPts val="2200"/>
              </a:spcAft>
              <a:buChar char="•"/>
              <a:defRPr sz="2250" b="0">
                <a:solidFill>
                  <a:srgbClr val="000000"/>
                </a:solidFill>
                <a:latin typeface="Arial"/>
                <a:ea typeface="Arial"/>
                <a:cs typeface="Arial"/>
              </a:defRPr>
            </a:pPr>
            <a:r>
              <a:t>Translation and summary quality depend on the text. The original notice remains authoritative.</a:t>
            </a:r>
          </a:p>
          <a:p>
            <a:pPr marL="279400" indent="-152400" algn="l">
              <a:spcAft>
                <a:spcPts val="2200"/>
              </a:spcAft>
              <a:buChar char="•"/>
              <a:defRPr sz="2250" b="0">
                <a:solidFill>
                  <a:srgbClr val="000000"/>
                </a:solidFill>
                <a:latin typeface="Arial"/>
                <a:ea typeface="Arial"/>
                <a:cs typeface="Arial"/>
              </a:defRPr>
            </a:pPr>
            <a:r>
              <a:t>Public deployment, load testing and formal user acceptance remain pending.</a:t>
            </a:r>
          </a:p>
        </p:txBody>
      </p:sp>
      <p:sp>
        <p:nvSpPr>
          <p:cNvPr id="3" name="31">
            <a:extLst>
              <a:ext uri="{FF2B5EF4-FFF2-40B4-BE49-F238E27FC236}">
                <a16:creationId xmlns:a16="http://schemas.microsoft.com/office/drawing/2014/main" id="{7D7E5195-2122-49E5-B6BD-A042646504D1}"/>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dirty="0">
                <a:solidFill>
                  <a:srgbClr val="000000"/>
                </a:solidFill>
                <a:latin typeface="Arial"/>
                <a:ea typeface="Arial"/>
                <a:cs typeface="Arial"/>
              </a:rPr>
              <a:t>31</a:t>
            </a:r>
          </a:p>
        </p:txBody>
      </p:sp>
    </p:spTree>
    <p:extLst>
      <p:ext uri="{BB962C8B-B14F-4D97-AF65-F5344CB8AC3E}">
        <p14:creationId xmlns:p14="http://schemas.microsoft.com/office/powerpoint/2010/main" val="15116070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Conclusion">
            <a:extLst>
              <a:ext uri="{FF2B5EF4-FFF2-40B4-BE49-F238E27FC236}">
                <a16:creationId xmlns:a16="http://schemas.microsoft.com/office/drawing/2014/main" id="{4DE0FFBB-57D7-4C40-8AC6-77924C90B0D5}"/>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Conclusion</a:t>
            </a:r>
          </a:p>
        </p:txBody>
      </p:sp>
      <p:sp>
        <p:nvSpPr>
          <p:cNvPr id="2" name="Rectangle 1">
            <a:extLst>
              <a:ext uri="{FF2B5EF4-FFF2-40B4-BE49-F238E27FC236}">
                <a16:creationId xmlns:a16="http://schemas.microsoft.com/office/drawing/2014/main" id="{B4D4FA80-63D7-4C39-8650-93693C018C4A}"/>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CollegeNotice provides a working digital notice board for student and admin workflows.</a:t>
            </a:r>
          </a:p>
          <a:p>
            <a:pPr marL="279400" indent="-152400" algn="l">
              <a:spcAft>
                <a:spcPts val="2200"/>
              </a:spcAft>
              <a:buChar char="•"/>
              <a:defRPr sz="2250" b="0">
                <a:solidFill>
                  <a:srgbClr val="000000"/>
                </a:solidFill>
                <a:latin typeface="Arial"/>
                <a:ea typeface="Arial"/>
                <a:cs typeface="Arial"/>
              </a:defRPr>
            </a:pPr>
            <a:r>
              <a:t>The prototype combines controlled publishing with searchable announcements.</a:t>
            </a:r>
          </a:p>
          <a:p>
            <a:pPr marL="279400" indent="-152400" algn="l">
              <a:spcAft>
                <a:spcPts val="2200"/>
              </a:spcAft>
              <a:buChar char="•"/>
              <a:defRPr sz="2250" b="0">
                <a:solidFill>
                  <a:srgbClr val="000000"/>
                </a:solidFill>
                <a:latin typeface="Arial"/>
                <a:ea typeface="Arial"/>
                <a:cs typeface="Arial"/>
              </a:defRPr>
            </a:pPr>
            <a:r>
              <a:t>Local summaries, translation and source-linked answers support notice reading.</a:t>
            </a:r>
          </a:p>
          <a:p>
            <a:pPr marL="279400" indent="-152400" algn="l">
              <a:spcAft>
                <a:spcPts val="2200"/>
              </a:spcAft>
              <a:buChar char="•"/>
              <a:defRPr sz="2250" b="0">
                <a:solidFill>
                  <a:srgbClr val="000000"/>
                </a:solidFill>
                <a:latin typeface="Arial"/>
                <a:ea typeface="Arial"/>
                <a:cs typeface="Arial"/>
              </a:defRPr>
            </a:pPr>
            <a:r>
              <a:t>The demonstration and automated tests establish the current local functionality.</a:t>
            </a:r>
          </a:p>
        </p:txBody>
      </p:sp>
      <p:sp>
        <p:nvSpPr>
          <p:cNvPr id="3" name="32">
            <a:extLst>
              <a:ext uri="{FF2B5EF4-FFF2-40B4-BE49-F238E27FC236}">
                <a16:creationId xmlns:a16="http://schemas.microsoft.com/office/drawing/2014/main" id="{E241C3B8-EE36-4195-B813-C000EFEC26BD}"/>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32</a:t>
            </a:r>
          </a:p>
        </p:txBody>
      </p:sp>
    </p:spTree>
    <p:extLst>
      <p:ext uri="{BB962C8B-B14F-4D97-AF65-F5344CB8AC3E}">
        <p14:creationId xmlns:p14="http://schemas.microsoft.com/office/powerpoint/2010/main" val="230744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Future Scope">
            <a:extLst>
              <a:ext uri="{FF2B5EF4-FFF2-40B4-BE49-F238E27FC236}">
                <a16:creationId xmlns:a16="http://schemas.microsoft.com/office/drawing/2014/main" id="{A83A4717-4785-4EDB-8CD7-C4D773BB1301}"/>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Future Scope</a:t>
            </a:r>
          </a:p>
        </p:txBody>
      </p:sp>
      <p:sp>
        <p:nvSpPr>
          <p:cNvPr id="2" name="Rectangle 1">
            <a:extLst>
              <a:ext uri="{FF2B5EF4-FFF2-40B4-BE49-F238E27FC236}">
                <a16:creationId xmlns:a16="http://schemas.microsoft.com/office/drawing/2014/main" id="{FE332F51-6C79-4496-BE16-FC2024FBA9C5}"/>
              </a:ext>
            </a:extLst>
          </p:cNvPr>
          <p:cNvSpPr>
            <a:spLocks noGrp="1"/>
          </p:cNvSpPr>
          <p:nvPr/>
        </p:nvSpPr>
        <p:spPr>
          <a:xfrm>
            <a:off x="742950" y="1562100"/>
            <a:ext cx="10572750" cy="4267200"/>
          </a:xfrm>
          <a:prstGeom prst="rect">
            <a:avLst/>
          </a:prstGeom>
          <a:noFill/>
          <a:ln w="0">
            <a:noFill/>
          </a:ln>
        </p:spPr>
        <p:txBody>
          <a:bodyPr lIns="0" tIns="0" rIns="0" bIns="0" anchor="t">
            <a:noAutofit/>
          </a:bodyPr>
          <a:lstStyle>
            <a:defPPr algn="l">
              <a:defRPr sz="2250" b="0">
                <a:solidFill>
                  <a:srgbClr val="000000"/>
                </a:solidFill>
                <a:latin typeface="Arial"/>
                <a:ea typeface="Arial"/>
                <a:cs typeface="Arial"/>
              </a:defRPr>
            </a:defPPr>
          </a:lstStyle>
          <a:p>
            <a:pPr marL="279400" indent="-152400" algn="l">
              <a:spcAft>
                <a:spcPts val="2200"/>
              </a:spcAft>
              <a:buChar char="•"/>
              <a:defRPr sz="2250" b="0">
                <a:solidFill>
                  <a:srgbClr val="000000"/>
                </a:solidFill>
                <a:latin typeface="Arial"/>
                <a:ea typeface="Arial"/>
                <a:cs typeface="Arial"/>
              </a:defRPr>
            </a:pPr>
            <a:r>
              <a:t>Deploy the application with HTTPS, backups and monitored infrastructure.</a:t>
            </a:r>
          </a:p>
          <a:p>
            <a:pPr marL="279400" indent="-152400" algn="l">
              <a:spcAft>
                <a:spcPts val="2200"/>
              </a:spcAft>
              <a:buChar char="•"/>
              <a:defRPr sz="2250" b="0">
                <a:solidFill>
                  <a:srgbClr val="000000"/>
                </a:solidFill>
                <a:latin typeface="Arial"/>
                <a:ea typeface="Arial"/>
                <a:cs typeface="Arial"/>
              </a:defRPr>
            </a:pPr>
            <a:r>
              <a:t>Validate PostgreSQL, Redis and Celery under concurrent use.</a:t>
            </a:r>
          </a:p>
          <a:p>
            <a:pPr marL="279400" indent="-152400" algn="l">
              <a:spcAft>
                <a:spcPts val="2200"/>
              </a:spcAft>
              <a:buChar char="•"/>
              <a:defRPr sz="2250" b="0">
                <a:solidFill>
                  <a:srgbClr val="000000"/>
                </a:solidFill>
                <a:latin typeface="Arial"/>
                <a:ea typeface="Arial"/>
                <a:cs typeface="Arial"/>
              </a:defRPr>
            </a:pPr>
            <a:r>
              <a:t>Add verified enrollment and a complete password-recovery workflow.</a:t>
            </a:r>
          </a:p>
          <a:p>
            <a:pPr marL="279400" indent="-152400" algn="l">
              <a:spcAft>
                <a:spcPts val="2200"/>
              </a:spcAft>
              <a:buChar char="•"/>
              <a:defRPr sz="2250" b="0">
                <a:solidFill>
                  <a:srgbClr val="000000"/>
                </a:solidFill>
                <a:latin typeface="Arial"/>
                <a:ea typeface="Arial"/>
                <a:cs typeface="Arial"/>
              </a:defRPr>
            </a:pPr>
            <a:r>
              <a:t>Evaluate translation and summarisation with reviewed college notice datasets.</a:t>
            </a:r>
          </a:p>
          <a:p>
            <a:pPr marL="279400" indent="-152400" algn="l">
              <a:spcAft>
                <a:spcPts val="2200"/>
              </a:spcAft>
              <a:buChar char="•"/>
              <a:defRPr sz="2250" b="0">
                <a:solidFill>
                  <a:srgbClr val="000000"/>
                </a:solidFill>
                <a:latin typeface="Arial"/>
                <a:ea typeface="Arial"/>
                <a:cs typeface="Arial"/>
              </a:defRPr>
            </a:pPr>
            <a:r>
              <a:t>Conduct accessibility and user acceptance studies with students and faculty.</a:t>
            </a:r>
          </a:p>
        </p:txBody>
      </p:sp>
      <p:sp>
        <p:nvSpPr>
          <p:cNvPr id="3" name="33">
            <a:extLst>
              <a:ext uri="{FF2B5EF4-FFF2-40B4-BE49-F238E27FC236}">
                <a16:creationId xmlns:a16="http://schemas.microsoft.com/office/drawing/2014/main" id="{399BD282-40A4-40AB-ADE1-BADBD42C959F}"/>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33</a:t>
            </a:r>
          </a:p>
        </p:txBody>
      </p:sp>
    </p:spTree>
    <p:extLst>
      <p:ext uri="{BB962C8B-B14F-4D97-AF65-F5344CB8AC3E}">
        <p14:creationId xmlns:p14="http://schemas.microsoft.com/office/powerpoint/2010/main" val="19493223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ferences">
            <a:extLst>
              <a:ext uri="{FF2B5EF4-FFF2-40B4-BE49-F238E27FC236}">
                <a16:creationId xmlns:a16="http://schemas.microsoft.com/office/drawing/2014/main" id="{6B1969CB-E4D6-42D0-88BF-326C32424285}"/>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References</a:t>
            </a:r>
          </a:p>
        </p:txBody>
      </p:sp>
      <p:sp>
        <p:nvSpPr>
          <p:cNvPr id="2" name="[1] M. Ninawe, P. Sarangpure, P. Sahare, D. Shende, and M. Y">
            <a:extLst>
              <a:ext uri="{FF2B5EF4-FFF2-40B4-BE49-F238E27FC236}">
                <a16:creationId xmlns:a16="http://schemas.microsoft.com/office/drawing/2014/main" id="{9A74C597-DEB4-418E-BE9C-98E2F364CA2A}"/>
              </a:ext>
            </a:extLst>
          </p:cNvPr>
          <p:cNvSpPr>
            <a:spLocks noGrp="1"/>
          </p:cNvSpPr>
          <p:nvPr/>
        </p:nvSpPr>
        <p:spPr>
          <a:xfrm>
            <a:off x="647700" y="1504950"/>
            <a:ext cx="10810875" cy="1381125"/>
          </a:xfrm>
          <a:prstGeom prst="rect">
            <a:avLst/>
          </a:prstGeom>
          <a:noFill/>
          <a:ln w="0">
            <a:noFill/>
          </a:ln>
        </p:spPr>
        <p:txBody>
          <a:bodyPr lIns="0" tIns="0" rIns="0" bIns="0" anchor="t">
            <a:noAutofit/>
          </a:bodyPr>
          <a:lstStyle>
            <a:defPPr algn="l">
              <a:defRPr sz="1800" b="0">
                <a:solidFill>
                  <a:srgbClr val="000000"/>
                </a:solidFill>
                <a:latin typeface="Arial"/>
                <a:ea typeface="Arial"/>
                <a:cs typeface="Arial"/>
              </a:defRPr>
            </a:defPPr>
          </a:lstStyle>
          <a:p>
            <a:pPr algn="l">
              <a:defRPr sz="1800" b="0">
                <a:solidFill>
                  <a:srgbClr val="000000"/>
                </a:solidFill>
                <a:latin typeface="Arial"/>
                <a:ea typeface="Arial"/>
                <a:cs typeface="Arial"/>
              </a:defRPr>
            </a:pPr>
            <a:r>
              <a:rPr sz="1800" b="0">
                <a:solidFill>
                  <a:srgbClr val="000000"/>
                </a:solidFill>
                <a:latin typeface="Arial"/>
                <a:ea typeface="Arial"/>
                <a:cs typeface="Arial"/>
              </a:rPr>
              <a:t>[1] M. Ninawe, P. Sarangpure, P. Sahare, D. Shende, and M. Yadhav, “Web-Controlled Centralized Digital Notice Board for Smart Institutions,” International Journal of Electrical, Electronics and Computer Systems, vol. 14, no. 1, pp. 91–97, 2025, doi: 10.65521/ijeecs.v14i1.351.</a:t>
            </a:r>
          </a:p>
        </p:txBody>
      </p:sp>
      <p:sp>
        <p:nvSpPr>
          <p:cNvPr id="3" name="[2] R. Mihalcea and P. Tarau, “TextRank: Bringing Order into">
            <a:extLst>
              <a:ext uri="{FF2B5EF4-FFF2-40B4-BE49-F238E27FC236}">
                <a16:creationId xmlns:a16="http://schemas.microsoft.com/office/drawing/2014/main" id="{C73AE552-A72B-4868-918E-2847D991E16C}"/>
              </a:ext>
            </a:extLst>
          </p:cNvPr>
          <p:cNvSpPr>
            <a:spLocks noGrp="1"/>
          </p:cNvSpPr>
          <p:nvPr/>
        </p:nvSpPr>
        <p:spPr>
          <a:xfrm>
            <a:off x="647700" y="3019425"/>
            <a:ext cx="10810875" cy="1381125"/>
          </a:xfrm>
          <a:prstGeom prst="rect">
            <a:avLst/>
          </a:prstGeom>
          <a:noFill/>
          <a:ln w="0">
            <a:noFill/>
          </a:ln>
        </p:spPr>
        <p:txBody>
          <a:bodyPr lIns="0" tIns="0" rIns="0" bIns="0" anchor="t">
            <a:noAutofit/>
          </a:bodyPr>
          <a:lstStyle>
            <a:defPPr algn="l">
              <a:defRPr sz="1800" b="0">
                <a:solidFill>
                  <a:srgbClr val="000000"/>
                </a:solidFill>
                <a:latin typeface="Arial"/>
                <a:ea typeface="Arial"/>
                <a:cs typeface="Arial"/>
              </a:defRPr>
            </a:defPPr>
          </a:lstStyle>
          <a:p>
            <a:pPr algn="l">
              <a:defRPr sz="1800" b="0">
                <a:solidFill>
                  <a:srgbClr val="000000"/>
                </a:solidFill>
                <a:latin typeface="Arial"/>
                <a:ea typeface="Arial"/>
                <a:cs typeface="Arial"/>
              </a:defRPr>
            </a:pPr>
            <a:r>
              <a:rPr sz="1800" b="0">
                <a:solidFill>
                  <a:srgbClr val="000000"/>
                </a:solidFill>
                <a:latin typeface="Arial"/>
                <a:ea typeface="Arial"/>
                <a:cs typeface="Arial"/>
              </a:rPr>
              <a:t>[2] R. Mihalcea and P. Tarau, “TextRank: Bringing Order into Text,” in Proc. EMNLP, Barcelona, Spain, 2004, pp. 404–411. [Online]. Available: https://aclanthology.org/W04-3252/</a:t>
            </a:r>
          </a:p>
        </p:txBody>
      </p:sp>
      <p:sp>
        <p:nvSpPr>
          <p:cNvPr id="4" name="[3] NLLB Team et al., “No Language Left Behind: Scaling Huma">
            <a:extLst>
              <a:ext uri="{FF2B5EF4-FFF2-40B4-BE49-F238E27FC236}">
                <a16:creationId xmlns:a16="http://schemas.microsoft.com/office/drawing/2014/main" id="{5E78F552-482D-4276-9DFC-BD6DE9756A30}"/>
              </a:ext>
            </a:extLst>
          </p:cNvPr>
          <p:cNvSpPr>
            <a:spLocks noGrp="1"/>
          </p:cNvSpPr>
          <p:nvPr/>
        </p:nvSpPr>
        <p:spPr>
          <a:xfrm>
            <a:off x="647700" y="4533900"/>
            <a:ext cx="10810875" cy="1381125"/>
          </a:xfrm>
          <a:prstGeom prst="rect">
            <a:avLst/>
          </a:prstGeom>
          <a:noFill/>
          <a:ln w="0">
            <a:noFill/>
          </a:ln>
        </p:spPr>
        <p:txBody>
          <a:bodyPr lIns="0" tIns="0" rIns="0" bIns="0" anchor="t">
            <a:noAutofit/>
          </a:bodyPr>
          <a:lstStyle>
            <a:defPPr algn="l">
              <a:defRPr sz="1800" b="0">
                <a:solidFill>
                  <a:srgbClr val="000000"/>
                </a:solidFill>
                <a:latin typeface="Arial"/>
                <a:ea typeface="Arial"/>
                <a:cs typeface="Arial"/>
              </a:defRPr>
            </a:defPPr>
          </a:lstStyle>
          <a:p>
            <a:pPr algn="l">
              <a:defRPr sz="1800" b="0">
                <a:solidFill>
                  <a:srgbClr val="000000"/>
                </a:solidFill>
                <a:latin typeface="Arial"/>
                <a:ea typeface="Arial"/>
                <a:cs typeface="Arial"/>
              </a:defRPr>
            </a:pPr>
            <a:r>
              <a:rPr sz="1800" b="0">
                <a:solidFill>
                  <a:srgbClr val="000000"/>
                </a:solidFill>
                <a:latin typeface="Arial"/>
                <a:ea typeface="Arial"/>
                <a:cs typeface="Arial"/>
              </a:rPr>
              <a:t>[3] NLLB Team et al., “No Language Left Behind: Scaling Human-Centered Machine Translation,” arXiv:2207.04672, 2022, doi: 10.48550/arXiv.2207.04672.</a:t>
            </a:r>
          </a:p>
        </p:txBody>
      </p:sp>
      <p:sp>
        <p:nvSpPr>
          <p:cNvPr id="5" name="34">
            <a:extLst>
              <a:ext uri="{FF2B5EF4-FFF2-40B4-BE49-F238E27FC236}">
                <a16:creationId xmlns:a16="http://schemas.microsoft.com/office/drawing/2014/main" id="{A1786F06-054E-43B5-8560-22001379ECEC}"/>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34</a:t>
            </a:r>
          </a:p>
        </p:txBody>
      </p:sp>
    </p:spTree>
    <p:extLst>
      <p:ext uri="{BB962C8B-B14F-4D97-AF65-F5344CB8AC3E}">
        <p14:creationId xmlns:p14="http://schemas.microsoft.com/office/powerpoint/2010/main" val="1475187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ferences: Technical Documentation">
            <a:extLst>
              <a:ext uri="{FF2B5EF4-FFF2-40B4-BE49-F238E27FC236}">
                <a16:creationId xmlns:a16="http://schemas.microsoft.com/office/drawing/2014/main" id="{B54720D6-8C35-4AE7-BDF6-13C4F78D34CF}"/>
              </a:ext>
            </a:extLst>
          </p:cNvPr>
          <p:cNvSpPr>
            <a:spLocks noGrp="1"/>
          </p:cNvSpPr>
          <p:nvPr/>
        </p:nvSpPr>
        <p:spPr>
          <a:xfrm>
            <a:off x="609600" y="400050"/>
            <a:ext cx="10972800" cy="666750"/>
          </a:xfrm>
          <a:prstGeom prst="rect">
            <a:avLst/>
          </a:prstGeom>
          <a:noFill/>
          <a:ln w="0">
            <a:noFill/>
          </a:ln>
        </p:spPr>
        <p:txBody>
          <a:bodyPr lIns="0" tIns="0" rIns="0" bIns="0" anchor="t">
            <a:noAutofit/>
          </a:bodyPr>
          <a:lstStyle>
            <a:defPPr algn="l">
              <a:defRPr sz="3000" b="1">
                <a:solidFill>
                  <a:srgbClr val="000000"/>
                </a:solidFill>
                <a:latin typeface="Arial"/>
                <a:ea typeface="Arial"/>
                <a:cs typeface="Arial"/>
              </a:defRPr>
            </a:defPPr>
          </a:lstStyle>
          <a:p>
            <a:pPr algn="l">
              <a:defRPr sz="3000" b="1">
                <a:solidFill>
                  <a:srgbClr val="000000"/>
                </a:solidFill>
                <a:latin typeface="Arial"/>
                <a:ea typeface="Arial"/>
                <a:cs typeface="Arial"/>
              </a:defRPr>
            </a:pPr>
            <a:r>
              <a:rPr sz="3000" b="1">
                <a:solidFill>
                  <a:srgbClr val="000000"/>
                </a:solidFill>
                <a:latin typeface="Arial"/>
                <a:ea typeface="Arial"/>
                <a:cs typeface="Arial"/>
              </a:rPr>
              <a:t>References: Technical Documentation</a:t>
            </a:r>
          </a:p>
        </p:txBody>
      </p:sp>
      <p:sp>
        <p:nvSpPr>
          <p:cNvPr id="2" name="[4] Django Software Foundation, “Django 5.2 documentation.” ">
            <a:extLst>
              <a:ext uri="{FF2B5EF4-FFF2-40B4-BE49-F238E27FC236}">
                <a16:creationId xmlns:a16="http://schemas.microsoft.com/office/drawing/2014/main" id="{C5CCEB50-6AE8-437B-AA02-7894C73B4E76}"/>
              </a:ext>
            </a:extLst>
          </p:cNvPr>
          <p:cNvSpPr>
            <a:spLocks noGrp="1"/>
          </p:cNvSpPr>
          <p:nvPr/>
        </p:nvSpPr>
        <p:spPr>
          <a:xfrm>
            <a:off x="647700" y="1466850"/>
            <a:ext cx="10810875" cy="1047750"/>
          </a:xfrm>
          <a:prstGeom prst="rect">
            <a:avLst/>
          </a:prstGeom>
          <a:noFill/>
          <a:ln w="0">
            <a:noFill/>
          </a:ln>
        </p:spPr>
        <p:txBody>
          <a:bodyPr lIns="0" tIns="0" rIns="0" bIns="0" anchor="t">
            <a:noAutofit/>
          </a:bodyPr>
          <a:lstStyle>
            <a:defPPr algn="l">
              <a:defRPr sz="1800" b="0">
                <a:solidFill>
                  <a:srgbClr val="000000"/>
                </a:solidFill>
                <a:latin typeface="Arial"/>
                <a:ea typeface="Arial"/>
                <a:cs typeface="Arial"/>
              </a:defRPr>
            </a:defPPr>
          </a:lstStyle>
          <a:p>
            <a:pPr algn="l">
              <a:defRPr sz="1800" b="0">
                <a:solidFill>
                  <a:srgbClr val="000000"/>
                </a:solidFill>
                <a:latin typeface="Arial"/>
                <a:ea typeface="Arial"/>
                <a:cs typeface="Arial"/>
              </a:defRPr>
            </a:pPr>
            <a:r>
              <a:rPr sz="1800" b="0">
                <a:solidFill>
                  <a:srgbClr val="000000"/>
                </a:solidFill>
                <a:latin typeface="Arial"/>
                <a:ea typeface="Arial"/>
                <a:cs typeface="Arial"/>
              </a:rPr>
              <a:t>[4] Django Software Foundation, “Django 5.2 documentation.” Accessed: Oct. 13, 2026. [Online]. Available: https://docs.djangoproject.com/en/5.2/</a:t>
            </a:r>
          </a:p>
        </p:txBody>
      </p:sp>
      <p:sp>
        <p:nvSpPr>
          <p:cNvPr id="3" name="[5] Django REST framework, “Django REST framework documentat">
            <a:extLst>
              <a:ext uri="{FF2B5EF4-FFF2-40B4-BE49-F238E27FC236}">
                <a16:creationId xmlns:a16="http://schemas.microsoft.com/office/drawing/2014/main" id="{BE31FBDC-FAD6-4E9D-AC22-8AFB3D66ECBB}"/>
              </a:ext>
            </a:extLst>
          </p:cNvPr>
          <p:cNvSpPr>
            <a:spLocks noGrp="1"/>
          </p:cNvSpPr>
          <p:nvPr/>
        </p:nvSpPr>
        <p:spPr>
          <a:xfrm>
            <a:off x="647700" y="2657475"/>
            <a:ext cx="10810875" cy="1047750"/>
          </a:xfrm>
          <a:prstGeom prst="rect">
            <a:avLst/>
          </a:prstGeom>
          <a:noFill/>
          <a:ln w="0">
            <a:noFill/>
          </a:ln>
        </p:spPr>
        <p:txBody>
          <a:bodyPr lIns="0" tIns="0" rIns="0" bIns="0" anchor="t">
            <a:noAutofit/>
          </a:bodyPr>
          <a:lstStyle>
            <a:defPPr algn="l">
              <a:defRPr sz="1800" b="0">
                <a:solidFill>
                  <a:srgbClr val="000000"/>
                </a:solidFill>
                <a:latin typeface="Arial"/>
                <a:ea typeface="Arial"/>
                <a:cs typeface="Arial"/>
              </a:defRPr>
            </a:defPPr>
          </a:lstStyle>
          <a:p>
            <a:pPr algn="l">
              <a:defRPr sz="1800" b="0">
                <a:solidFill>
                  <a:srgbClr val="000000"/>
                </a:solidFill>
                <a:latin typeface="Arial"/>
                <a:ea typeface="Arial"/>
                <a:cs typeface="Arial"/>
              </a:defRPr>
            </a:pPr>
            <a:r>
              <a:rPr sz="1800" b="0">
                <a:solidFill>
                  <a:srgbClr val="000000"/>
                </a:solidFill>
                <a:latin typeface="Arial"/>
                <a:ea typeface="Arial"/>
                <a:cs typeface="Arial"/>
              </a:rPr>
              <a:t>[5] Django REST framework, “Django REST framework documentation.” Accessed: Oct. 13, 2026. [Online]. Available: https://www.django-rest-framework.org/</a:t>
            </a:r>
          </a:p>
        </p:txBody>
      </p:sp>
      <p:sp>
        <p:nvSpPr>
          <p:cNvPr id="4" name="[6] OpenNMT, “CTranslate2 documentation.” Accessed: Oct. 13,">
            <a:extLst>
              <a:ext uri="{FF2B5EF4-FFF2-40B4-BE49-F238E27FC236}">
                <a16:creationId xmlns:a16="http://schemas.microsoft.com/office/drawing/2014/main" id="{E85D476A-07DB-401F-AFC2-1AEC0560B849}"/>
              </a:ext>
            </a:extLst>
          </p:cNvPr>
          <p:cNvSpPr>
            <a:spLocks noGrp="1"/>
          </p:cNvSpPr>
          <p:nvPr/>
        </p:nvSpPr>
        <p:spPr>
          <a:xfrm>
            <a:off x="647700" y="3848100"/>
            <a:ext cx="10810875" cy="1047750"/>
          </a:xfrm>
          <a:prstGeom prst="rect">
            <a:avLst/>
          </a:prstGeom>
          <a:noFill/>
          <a:ln w="0">
            <a:noFill/>
          </a:ln>
        </p:spPr>
        <p:txBody>
          <a:bodyPr lIns="0" tIns="0" rIns="0" bIns="0" anchor="t">
            <a:noAutofit/>
          </a:bodyPr>
          <a:lstStyle>
            <a:defPPr algn="l">
              <a:defRPr sz="1800" b="0">
                <a:solidFill>
                  <a:srgbClr val="000000"/>
                </a:solidFill>
                <a:latin typeface="Arial"/>
                <a:ea typeface="Arial"/>
                <a:cs typeface="Arial"/>
              </a:defRPr>
            </a:defPPr>
          </a:lstStyle>
          <a:p>
            <a:pPr algn="l">
              <a:defRPr sz="1800" b="0">
                <a:solidFill>
                  <a:srgbClr val="000000"/>
                </a:solidFill>
                <a:latin typeface="Arial"/>
                <a:ea typeface="Arial"/>
                <a:cs typeface="Arial"/>
              </a:defRPr>
            </a:pPr>
            <a:r>
              <a:rPr sz="1800" b="0">
                <a:solidFill>
                  <a:srgbClr val="000000"/>
                </a:solidFill>
                <a:latin typeface="Arial"/>
                <a:ea typeface="Arial"/>
                <a:cs typeface="Arial"/>
              </a:rPr>
              <a:t>[6] OpenNMT, “CTranslate2 documentation.” Accessed: Oct. 13, 2026. [Online]. Available: https://opennmt.net/CTranslate2/</a:t>
            </a:r>
          </a:p>
        </p:txBody>
      </p:sp>
      <p:sp>
        <p:nvSpPr>
          <p:cNvPr id="5" name="[7] Meta AI, “NLLB-200-distilled-600M model card.” Accessed:">
            <a:extLst>
              <a:ext uri="{FF2B5EF4-FFF2-40B4-BE49-F238E27FC236}">
                <a16:creationId xmlns:a16="http://schemas.microsoft.com/office/drawing/2014/main" id="{D937C328-5217-4F65-96EA-B2CBDF18054F}"/>
              </a:ext>
            </a:extLst>
          </p:cNvPr>
          <p:cNvSpPr>
            <a:spLocks noGrp="1"/>
          </p:cNvSpPr>
          <p:nvPr/>
        </p:nvSpPr>
        <p:spPr>
          <a:xfrm>
            <a:off x="647700" y="5038725"/>
            <a:ext cx="10810875" cy="1047750"/>
          </a:xfrm>
          <a:prstGeom prst="rect">
            <a:avLst/>
          </a:prstGeom>
          <a:noFill/>
          <a:ln w="0">
            <a:noFill/>
          </a:ln>
        </p:spPr>
        <p:txBody>
          <a:bodyPr lIns="0" tIns="0" rIns="0" bIns="0" anchor="t">
            <a:noAutofit/>
          </a:bodyPr>
          <a:lstStyle>
            <a:defPPr algn="l">
              <a:defRPr sz="1800" b="0">
                <a:solidFill>
                  <a:srgbClr val="000000"/>
                </a:solidFill>
                <a:latin typeface="Arial"/>
                <a:ea typeface="Arial"/>
                <a:cs typeface="Arial"/>
              </a:defRPr>
            </a:defPPr>
          </a:lstStyle>
          <a:p>
            <a:pPr algn="l">
              <a:defRPr sz="1800" b="0">
                <a:solidFill>
                  <a:srgbClr val="000000"/>
                </a:solidFill>
                <a:latin typeface="Arial"/>
                <a:ea typeface="Arial"/>
                <a:cs typeface="Arial"/>
              </a:defRPr>
            </a:pPr>
            <a:r>
              <a:rPr sz="1800" b="0">
                <a:solidFill>
                  <a:srgbClr val="000000"/>
                </a:solidFill>
                <a:latin typeface="Arial"/>
                <a:ea typeface="Arial"/>
                <a:cs typeface="Arial"/>
              </a:rPr>
              <a:t>[7] Meta AI, “NLLB-200-distilled-600M model card.” Accessed: Oct. 13, 2026. [Online]. Available: https://huggingface.co/facebook/nllb-200-distilled-600M</a:t>
            </a:r>
          </a:p>
        </p:txBody>
      </p:sp>
      <p:sp>
        <p:nvSpPr>
          <p:cNvPr id="6" name="35">
            <a:extLst>
              <a:ext uri="{FF2B5EF4-FFF2-40B4-BE49-F238E27FC236}">
                <a16:creationId xmlns:a16="http://schemas.microsoft.com/office/drawing/2014/main" id="{34FEF62E-36D6-435D-B220-8430816045AA}"/>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lang="en-IN" sz="1200" b="0" dirty="0">
                <a:solidFill>
                  <a:srgbClr val="000000"/>
                </a:solidFill>
                <a:latin typeface="Arial"/>
                <a:ea typeface="Arial"/>
                <a:cs typeface="Arial"/>
              </a:rPr>
              <a:t>35</a:t>
            </a:r>
            <a:endParaRPr sz="1200" b="0" dirty="0">
              <a:solidFill>
                <a:srgbClr val="000000"/>
              </a:solidFill>
              <a:latin typeface="Arial"/>
              <a:ea typeface="Arial"/>
              <a:cs typeface="Arial"/>
            </a:endParaRPr>
          </a:p>
        </p:txBody>
      </p:sp>
    </p:spTree>
    <p:extLst>
      <p:ext uri="{BB962C8B-B14F-4D97-AF65-F5344CB8AC3E}">
        <p14:creationId xmlns:p14="http://schemas.microsoft.com/office/powerpoint/2010/main" val="229599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HANK YOU">
            <a:extLst>
              <a:ext uri="{FF2B5EF4-FFF2-40B4-BE49-F238E27FC236}">
                <a16:creationId xmlns:a16="http://schemas.microsoft.com/office/drawing/2014/main" id="{772B02DF-1345-4510-91B8-BF5BC93A1625}"/>
              </a:ext>
            </a:extLst>
          </p:cNvPr>
          <p:cNvSpPr>
            <a:spLocks noGrp="1"/>
          </p:cNvSpPr>
          <p:nvPr/>
        </p:nvSpPr>
        <p:spPr>
          <a:xfrm>
            <a:off x="666750" y="2247900"/>
            <a:ext cx="10858500" cy="857250"/>
          </a:xfrm>
          <a:prstGeom prst="rect">
            <a:avLst/>
          </a:prstGeom>
          <a:noFill/>
          <a:ln w="0">
            <a:noFill/>
          </a:ln>
        </p:spPr>
        <p:txBody>
          <a:bodyPr lIns="0" tIns="0" rIns="0" bIns="0" anchor="t">
            <a:noAutofit/>
          </a:bodyPr>
          <a:lstStyle>
            <a:defPPr algn="ctr">
              <a:defRPr sz="4050" b="1">
                <a:solidFill>
                  <a:srgbClr val="000000"/>
                </a:solidFill>
                <a:latin typeface="Arial"/>
                <a:ea typeface="Arial"/>
                <a:cs typeface="Arial"/>
              </a:defRPr>
            </a:defPPr>
          </a:lstStyle>
          <a:p>
            <a:pPr algn="ctr">
              <a:defRPr sz="4050" b="1">
                <a:solidFill>
                  <a:srgbClr val="000000"/>
                </a:solidFill>
                <a:latin typeface="Arial"/>
                <a:ea typeface="Arial"/>
                <a:cs typeface="Arial"/>
              </a:defRPr>
            </a:pPr>
            <a:r>
              <a:rPr sz="4050" b="1">
                <a:solidFill>
                  <a:srgbClr val="000000"/>
                </a:solidFill>
                <a:latin typeface="Arial"/>
                <a:ea typeface="Arial"/>
                <a:cs typeface="Arial"/>
              </a:rPr>
              <a:t>THANK YOU</a:t>
            </a:r>
          </a:p>
        </p:txBody>
      </p:sp>
      <p:sp>
        <p:nvSpPr>
          <p:cNvPr id="2" name="Nithin Mathew&#10;CollegeNotice: Digital Notice Board System">
            <a:extLst>
              <a:ext uri="{FF2B5EF4-FFF2-40B4-BE49-F238E27FC236}">
                <a16:creationId xmlns:a16="http://schemas.microsoft.com/office/drawing/2014/main" id="{32641A73-27F7-4605-B638-9610BA269489}"/>
              </a:ext>
            </a:extLst>
          </p:cNvPr>
          <p:cNvSpPr>
            <a:spLocks noGrp="1"/>
          </p:cNvSpPr>
          <p:nvPr/>
        </p:nvSpPr>
        <p:spPr>
          <a:xfrm>
            <a:off x="762000" y="3409950"/>
            <a:ext cx="10668000" cy="1047750"/>
          </a:xfrm>
          <a:prstGeom prst="rect">
            <a:avLst/>
          </a:prstGeom>
          <a:noFill/>
          <a:ln w="0">
            <a:noFill/>
          </a:ln>
        </p:spPr>
        <p:txBody>
          <a:bodyPr lIns="0" tIns="0" rIns="0" bIns="0" anchor="t">
            <a:noAutofit/>
          </a:bodyPr>
          <a:lstStyle>
            <a:defPPr algn="ctr">
              <a:defRPr sz="2100" b="0">
                <a:solidFill>
                  <a:srgbClr val="000000"/>
                </a:solidFill>
                <a:latin typeface="Arial"/>
                <a:ea typeface="Arial"/>
                <a:cs typeface="Arial"/>
              </a:defRPr>
            </a:defPPr>
          </a:lstStyle>
          <a:p>
            <a:pPr algn="ctr">
              <a:defRPr sz="2100" b="0">
                <a:solidFill>
                  <a:srgbClr val="000000"/>
                </a:solidFill>
                <a:latin typeface="Arial"/>
                <a:ea typeface="Arial"/>
                <a:cs typeface="Arial"/>
              </a:defRPr>
            </a:pPr>
            <a:r>
              <a:rPr sz="2100" b="0">
                <a:solidFill>
                  <a:srgbClr val="000000"/>
                </a:solidFill>
                <a:latin typeface="Arial"/>
                <a:ea typeface="Arial"/>
                <a:cs typeface="Arial"/>
              </a:rPr>
              <a:t>Nithin Mathew</a:t>
            </a:r>
          </a:p>
          <a:p>
            <a:pPr algn="ctr">
              <a:defRPr sz="2100" b="0">
                <a:solidFill>
                  <a:srgbClr val="000000"/>
                </a:solidFill>
                <a:latin typeface="Arial"/>
                <a:ea typeface="Arial"/>
                <a:cs typeface="Arial"/>
              </a:defRPr>
            </a:pPr>
            <a:r>
              <a:rPr sz="2100" b="0">
                <a:solidFill>
                  <a:srgbClr val="000000"/>
                </a:solidFill>
                <a:latin typeface="Arial"/>
                <a:ea typeface="Arial"/>
                <a:cs typeface="Arial"/>
              </a:rPr>
              <a:t>CollegeNotice: Digital Notice Board System</a:t>
            </a:r>
          </a:p>
        </p:txBody>
      </p:sp>
      <p:sp>
        <p:nvSpPr>
          <p:cNvPr id="3" name="36">
            <a:extLst>
              <a:ext uri="{FF2B5EF4-FFF2-40B4-BE49-F238E27FC236}">
                <a16:creationId xmlns:a16="http://schemas.microsoft.com/office/drawing/2014/main" id="{FB905F01-61BE-4056-8B04-9A30995E2C88}"/>
              </a:ext>
            </a:extLst>
          </p:cNvPr>
          <p:cNvSpPr>
            <a:spLocks noGrp="1"/>
          </p:cNvSpPr>
          <p:nvPr/>
        </p:nvSpPr>
        <p:spPr>
          <a:xfrm>
            <a:off x="11239500" y="6496050"/>
            <a:ext cx="381000" cy="228600"/>
          </a:xfrm>
          <a:prstGeom prst="rect">
            <a:avLst/>
          </a:prstGeom>
          <a:noFill/>
          <a:ln w="0">
            <a:noFill/>
          </a:ln>
        </p:spPr>
        <p:txBody>
          <a:bodyPr lIns="0" tIns="0" rIns="0" bIns="0" anchor="t">
            <a:noAutofit/>
          </a:bodyPr>
          <a:lstStyle>
            <a:defPPr algn="r">
              <a:defRPr sz="1200" b="0">
                <a:solidFill>
                  <a:srgbClr val="000000"/>
                </a:solidFill>
                <a:latin typeface="Arial"/>
                <a:ea typeface="Arial"/>
                <a:cs typeface="Arial"/>
              </a:defRPr>
            </a:defPPr>
          </a:lstStyle>
          <a:p>
            <a:pPr algn="r">
              <a:defRPr sz="1200" b="0">
                <a:solidFill>
                  <a:srgbClr val="000000"/>
                </a:solidFill>
                <a:latin typeface="Arial"/>
                <a:ea typeface="Arial"/>
                <a:cs typeface="Arial"/>
              </a:defRPr>
            </a:pPr>
            <a:r>
              <a:rPr sz="1200" b="0">
                <a:solidFill>
                  <a:srgbClr val="000000"/>
                </a:solidFill>
                <a:latin typeface="Arial"/>
                <a:ea typeface="Arial"/>
                <a:cs typeface="Arial"/>
              </a:rPr>
              <a:t>36</a:t>
            </a:r>
          </a:p>
        </p:txBody>
      </p:sp>
    </p:spTree>
    <p:extLst>
      <p:ext uri="{BB962C8B-B14F-4D97-AF65-F5344CB8AC3E}">
        <p14:creationId xmlns:p14="http://schemas.microsoft.com/office/powerpoint/2010/main" val="121897834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TotalTime>
  <Words>3756</Words>
  <Application>Microsoft Office PowerPoint</Application>
  <DocSecurity>0</DocSecurity>
  <PresentationFormat>Widescreen</PresentationFormat>
  <Paragraphs>313</Paragraphs>
  <Slides>36</Slides>
  <Notes>36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Aptos</vt: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Abin Mathew</cp:lastModifiedBy>
  <cp:revision>3</cp:revision>
  <dcterms:created xsi:type="dcterms:W3CDTF">2026-10-13T08:56:37Z</dcterms:created>
  <dcterms:modified xsi:type="dcterms:W3CDTF">2026-10-22T18:34:44Z</dcterms:modified>
</cp:coreProperties>
</file>